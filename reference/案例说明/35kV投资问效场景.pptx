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00" r:id="rId2"/>
    <p:sldId id="302" r:id="rId3"/>
    <p:sldId id="304" r:id="rId4"/>
    <p:sldId id="307" r:id="rId5"/>
    <p:sldId id="309"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angjinrong" initials="y" lastIdx="1" clrIdx="0"/>
  <p:cmAuthor id="1" name="lenovo" initials="l" lastIdx="1" clrIdx="0"/>
  <p:cmAuthor id="2" name="langlongya" initials="l" lastIdx="2" clrIdx="1"/>
  <p:cmAuthor id="3" name="YYD" initials="Y" lastIdx="1" clrIdx="2"/>
  <p:cmAuthor id="6014045" name="一1381487801" initials="一" lastIdx="2" clrIdx="81"/>
  <p:cmAuthor id="4" name="CEPRI-0592" initials="C" lastIdx="1" clrIdx="3"/>
  <p:cmAuthor id="5" name="作者" initials="A" lastIdx="0" clrIdx="2"/>
  <p:cmAuthor id="1459412595" name="夏源" initials="夏" lastIdx="2" clrIdx="80"/>
  <p:cmAuthor id="6" name="wuwei" initials="w" lastIdx="2" clrIdx="5"/>
  <p:cmAuthor id="7" name="蒋 超" initials="蒋" lastIdx="1" clrIdx="6"/>
  <p:cmAuthor id="8" name="EPRI-WXH" initials="E" lastIdx="5" clrIdx="7"/>
  <p:cmAuthor id="9" name="Administrator" initials="A" lastIdx="4" clrIdx="8"/>
  <p:cmAuthor id="10" name="张妮娜" initials="张妮娜" lastIdx="1" clrIdx="9"/>
  <p:cmAuthor id="11" name="崟" initials="崟" lastIdx="2" clrIdx="10"/>
  <p:cmAuthor id="12" name="zhu jing" initials="zj" lastIdx="1" clrIdx="11"/>
  <p:cmAuthor id="13" name="linda" initials="l" lastIdx="6" clrIdx="11"/>
  <p:cmAuthor id="14" name="Ge Xinliang" initials="G" lastIdx="5" clrIdx="13"/>
  <p:cmAuthor id="15" name="an123" initials="a" lastIdx="5" clrIdx="14"/>
  <p:cmAuthor id="16" name="admin" initials="a" lastIdx="2" clrIdx="15"/>
  <p:cmAuthor id="378925322" name="sj" initials="s" lastIdx="3" clrIdx="82"/>
  <p:cmAuthor id="17" name="Xin" initials="X" lastIdx="1" clrIdx="16"/>
  <p:cmAuthor id="18" name="wyr" initials="w" lastIdx="2" clrIdx="17"/>
  <p:cmAuthor id="278009130" name="魏延才" initials="魏" lastIdx="2" clrIdx="81"/>
  <p:cmAuthor id="19" name="liangchong" initials="l" lastIdx="1" clrIdx="18"/>
  <p:cmAuthor id="20" name="sgcc" initials="s" lastIdx="9" clrIdx="19"/>
  <p:cmAuthor id="21" name="杨静" initials="杨" lastIdx="18" clrIdx="20"/>
  <p:cmAuthor id="22" name="姜振宇" initials="姜" lastIdx="1" clrIdx="21"/>
  <p:cmAuthor id="23" name="volcano2001" initials="v" lastIdx="1" clrIdx="22"/>
  <p:cmAuthor id="24" name="Gxl-PC" initials="G" lastIdx="1" clrIdx="23"/>
  <p:cmAuthor id="25" name="F先生" initials="F" lastIdx="8" clrIdx="24"/>
  <p:cmAuthor id="26" name="余晗" initials="余" lastIdx="1" clrIdx="25"/>
  <p:cmAuthor id="27" name="Melody" initials="M" lastIdx="1" clrIdx="26"/>
  <p:cmAuthor id="28" name="94982" initials="9" lastIdx="1" clrIdx="27"/>
  <p:cmAuthor id="29" name="lijie" initials="l" lastIdx="1" clrIdx="28"/>
  <p:cmAuthor id="30" name="bai-shuo" initials="b" lastIdx="2" clrIdx="29"/>
  <p:cmAuthor id="31" name="qm" initials="q" lastIdx="1" clrIdx="30"/>
  <p:cmAuthor id="32" name="zyrstz" initials="z" lastIdx="11" clrIdx="11"/>
  <p:cmAuthor id="33" name="szq" initials="s" lastIdx="4" clrIdx="34"/>
  <p:cmAuthor id="34" name="XMY" initials="X" lastIdx="1" clrIdx="18"/>
  <p:cmAuthor id="35" name="David" initials="D" lastIdx="1" clrIdx="29"/>
  <p:cmAuthor id="36" name="yuxuelei" initials="y" lastIdx="1" clrIdx="35"/>
  <p:cmAuthor id="37" name="张晓荦" initials="张" lastIdx="1" clrIdx="36"/>
  <p:cmAuthor id="38" name="张艺璇" initials="a" lastIdx="2" clrIdx="37"/>
  <p:cmAuthor id="39" name="Mac" initials="M" lastIdx="5" clrIdx="38"/>
  <p:cmAuthor id="40" name="梁翀" initials="梁" lastIdx="1" clrIdx="39"/>
  <p:cmAuthor id="41" name="86153" initials="8" lastIdx="1" clrIdx="40"/>
  <p:cmAuthor id="42" name="adminsys" initials="a" lastIdx="1" clrIdx="41"/>
  <p:cmAuthor id="43" name="1602张悦" initials="1" lastIdx="22" clrIdx="42"/>
  <p:cmAuthor id="44" name="曾阿婷" initials="曾" lastIdx="1" clrIdx="16"/>
  <p:cmAuthor id="45" name="白健" initials="1" lastIdx="1" clrIdx="44"/>
  <p:cmAuthor id="46" name="yubaoquan" initials="y" lastIdx="1" clrIdx="4"/>
  <p:cmAuthor id="47" name="ting yue" initials="t" lastIdx="1" clrIdx="0"/>
  <p:cmAuthor id="48" name="hua-cloud" initials="h" lastIdx="1" clrIdx="47"/>
  <p:cmAuthor id="49" name="隽宝" initials="隽" lastIdx="1" clrIdx="48"/>
  <p:cmAuthor id="50" name="david bin" initials="d" lastIdx="3" clrIdx="0"/>
  <p:cmAuthor id="51" name="MLOONG" initials="M" lastIdx="1" clrIdx="0"/>
  <p:cmAuthor id="52" name="未知用户4" initials="未" lastIdx="6" clrIdx="0"/>
  <p:cmAuthor id="53" name="未知用户5" initials="未" lastIdx="2" clrIdx="0"/>
  <p:cmAuthor id="54" name="未知用户6" initials="未" lastIdx="1" clrIdx="0"/>
  <p:cmAuthor id="55" name="於宝泉" initials="於" lastIdx="0" clrIdx="2"/>
  <p:cmAuthor id="59" name=" " initials=" " lastIdx="1" clrIdx="16"/>
  <p:cmAuthor id="60" name="Liu Dong" initials="L" lastIdx="1" clrIdx="0"/>
  <p:cmAuthor id="61" name="Zhao Jing" initials="Z" lastIdx="11" clrIdx="2"/>
  <p:cmAuthor id="63" name="YANQING BAO" initials="Y" lastIdx="3" clrIdx="0"/>
  <p:cmAuthor id="65" name="Roet-Reinking, Nathalie" initials="R" lastIdx="1" clrIdx="0"/>
  <p:cmAuthor id="66" name="张金龙" initials="张" lastIdx="9" clrIdx="0"/>
  <p:cmAuthor id="67" name="祝惠蓉" initials="祝" lastIdx="3" clrIdx="8"/>
  <p:cmAuthor id="68" name="zhq" initials="z" lastIdx="7" clrIdx="20"/>
  <p:cmAuthor id="1146247306" name="杨庆甫" initials="杨" lastIdx="1" clrIdx="69"/>
  <p:cmAuthor id="69" name="张琦" initials="zq" lastIdx="46" clrIdx="21"/>
  <p:cmAuthor id="70" name="黄 俊" initials="黄" lastIdx="1" clrIdx="22"/>
  <p:cmAuthor id="71" name="鲁洋" initials="鲁" lastIdx="1" clrIdx="70"/>
  <p:cmAuthor id="72" name="LiuJianbo" initials="LiuJianbo" lastIdx="1" clrIdx="71"/>
  <p:cmAuthor id="73" name="xx" initials="x" lastIdx="11" clrIdx="72"/>
  <p:cmAuthor id="74" name="luowang" initials="l" lastIdx="2" clrIdx="73"/>
  <p:cmAuthor id="2000" name="蔡炎松_IFjyveUb" initials="authorId_1128255409" lastIdx="1633370503" clrIdx="0"/>
  <p:cmAuthor id="75" name="gaowei" initials="g" lastIdx="2" clrIdx="74"/>
  <p:cmAuthor id="2001" name="Wuyan (B)" initials="W(" lastIdx="1" clrIdx="41"/>
  <p:cmAuthor id="76" name="孙妮" initials="孙妮" lastIdx="1" clrIdx="25"/>
  <p:cmAuthor id="2002" name="hao wen" initials="hw" lastIdx="1" clrIdx="49"/>
  <p:cmAuthor id="77" name="沐色 微凉" initials="沐色" lastIdx="1" clrIdx="26"/>
  <p:cmAuthor id="2003" name="Enigma Allen" initials="EA" lastIdx="1" clrIdx="76"/>
  <p:cmAuthor id="78" name="Dorrin" initials="D" lastIdx="7" clrIdx="27"/>
  <p:cmAuthor id="2004" name="师玄" initials="师玄" lastIdx="1" clrIdx="77"/>
  <p:cmAuthor id="79" name="ida" initials="i" lastIdx="2" clrIdx="28"/>
  <p:cmAuthor id="80" name="孙" initials="孙" lastIdx="1" clrIdx="31"/>
  <p:cmAuthor id="317270488" name="人工智能" initials="人" lastIdx="1" clrIdx="12"/>
  <p:cmAuthor id="81" name="chenghongxing" initials="chx" lastIdx="1" clrIdx="38"/>
  <p:cmAuthor id="82" name="fanmeijiao" initials="f" lastIdx="1" clrIdx="39"/>
  <p:cmAuthor id="83" name="大洋 雷" initials="大雷" lastIdx="1" clrIdx="71"/>
  <p:cmAuthor id="84" name="姚铁锤" initials="姚铁锤" lastIdx="1" clrIdx="75"/>
  <p:cmAuthor id="598815436" name="MICKEY_UG" initials="M" lastIdx="1" clrIdx="8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8E5E4"/>
    <a:srgbClr val="006666"/>
    <a:srgbClr val="449899"/>
    <a:srgbClr val="509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2" d="100"/>
          <a:sy n="82" d="100"/>
        </p:scale>
        <p:origin x="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2026/3/23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graphicFrame>
        <p:nvGraphicFramePr>
          <p:cNvPr id="3" name="对象 2">
            <a:hlinkClick r:id="" action="ppaction://ole?verb=0"/>
          </p:cNvPr>
          <p:cNvGraphicFramePr>
            <a:graphicFrameLocks noChangeAspect="1"/>
          </p:cNvGraphicFramePr>
          <p:nvPr userDrawn="1"/>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r:id="rId2" imgW="914400" imgH="215900" progId="Equation.KSEE3">
                  <p:embed/>
                </p:oleObj>
              </mc:Choice>
              <mc:Fallback>
                <p:oleObj r:id="rId2" imgW="914400" imgH="215900" progId="Equation.KSEE3">
                  <p:embed/>
                  <p:pic>
                    <p:nvPicPr>
                      <p:cNvPr id="0" name="图片 1024"/>
                      <p:cNvPicPr/>
                      <p:nvPr/>
                    </p:nvPicPr>
                    <p:blipFill>
                      <a:blip r:embed="rId3"/>
                      <a:stretch>
                        <a:fillRect/>
                      </a:stretch>
                    </p:blipFill>
                    <p:spPr>
                      <a:xfrm>
                        <a:off x="5638800" y="3321050"/>
                        <a:ext cx="914400" cy="215900"/>
                      </a:xfrm>
                      <a:prstGeom prst="rect">
                        <a:avLst/>
                      </a:prstGeom>
                    </p:spPr>
                  </p:pic>
                </p:oleObj>
              </mc:Fallback>
            </mc:AlternateContent>
          </a:graphicData>
        </a:graphic>
      </p:graphicFrame>
      <p:sp>
        <p:nvSpPr>
          <p:cNvPr id="5" name="灯片编号占位符 4"/>
          <p:cNvSpPr>
            <a:spLocks noGrp="1"/>
          </p:cNvSpPr>
          <p:nvPr>
            <p:ph type="sldNum" sz="quarter" idx="12"/>
          </p:nvPr>
        </p:nvSpPr>
        <p:spPr>
          <a:xfrm>
            <a:off x="11531600" y="6442710"/>
            <a:ext cx="1026795" cy="365125"/>
          </a:xfrm>
        </p:spPr>
        <p:txBody>
          <a:bodyPr/>
          <a:lstStyle/>
          <a:p>
            <a:fld id="{E077DA78-E013-4A8C-AD75-63A150561B10}" type="slidenum">
              <a:rPr lang="zh-CN" altLang="en-US" smtClean="0"/>
              <a:t>‹#›</a:t>
            </a:fld>
            <a:r>
              <a:rPr lang="zh-CN" altLang="en-US"/>
              <a:t>/</a:t>
            </a:r>
            <a:r>
              <a:rPr lang="en-US" altLang="zh-CN"/>
              <a:t>24</a:t>
            </a: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grpSp>
        <p:nvGrpSpPr>
          <p:cNvPr id="2" name="组合 1"/>
          <p:cNvGrpSpPr/>
          <p:nvPr userDrawn="1"/>
        </p:nvGrpSpPr>
        <p:grpSpPr>
          <a:xfrm>
            <a:off x="-13855" y="111223"/>
            <a:ext cx="12205855" cy="817030"/>
            <a:chOff x="-13855" y="111223"/>
            <a:chExt cx="12205855" cy="817030"/>
          </a:xfrm>
        </p:grpSpPr>
        <p:cxnSp>
          <p:nvCxnSpPr>
            <p:cNvPr id="3" name="Straight Connector 3"/>
            <p:cNvCxnSpPr/>
            <p:nvPr/>
          </p:nvCxnSpPr>
          <p:spPr bwMode="auto">
            <a:xfrm>
              <a:off x="-13855" y="928253"/>
              <a:ext cx="12205855" cy="0"/>
            </a:xfrm>
            <a:prstGeom prst="line">
              <a:avLst/>
            </a:prstGeom>
            <a:solidFill>
              <a:schemeClr val="accent1"/>
            </a:solidFill>
            <a:ln w="9525" cap="flat" cmpd="sng" algn="ctr">
              <a:solidFill>
                <a:srgbClr val="2D6F6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 name="图片 10" descr="SGCC Log rolling.gif"/>
            <p:cNvPicPr>
              <a:picLocks noChangeAspect="1"/>
            </p:cNvPicPr>
            <p:nvPr/>
          </p:nvPicPr>
          <p:blipFill>
            <a:blip r:embed="rId2"/>
            <a:srcRect/>
            <a:stretch>
              <a:fillRect/>
            </a:stretch>
          </p:blipFill>
          <p:spPr bwMode="auto">
            <a:xfrm>
              <a:off x="177800" y="111223"/>
              <a:ext cx="719772" cy="70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灯片编号占位符 8"/>
          <p:cNvSpPr txBox="1"/>
          <p:nvPr userDrawn="1"/>
        </p:nvSpPr>
        <p:spPr>
          <a:xfrm>
            <a:off x="11671300" y="6533023"/>
            <a:ext cx="495300" cy="215900"/>
          </a:xfrm>
          <a:prstGeom prst="rect">
            <a:avLst/>
          </a:prstGeom>
        </p:spPr>
        <p:txBody>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marR="0" lvl="0" indent="0" algn="r" defTabSz="913765" rtl="0" eaLnBrk="1" fontAlgn="auto" latinLnBrk="0" hangingPunct="1">
              <a:lnSpc>
                <a:spcPct val="100000"/>
              </a:lnSpc>
              <a:spcBef>
                <a:spcPts val="0"/>
              </a:spcBef>
              <a:spcAft>
                <a:spcPts val="0"/>
              </a:spcAft>
              <a:buClrTx/>
              <a:buSzTx/>
              <a:buFontTx/>
              <a:buNone/>
              <a:defRPr/>
            </a:pPr>
            <a:fld id="{48F63A3B-78C7-47BE-AE5E-E10140E04643}" type="slidenum">
              <a:rPr kumimoji="0" 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ea"/>
                <a:sym typeface="+mn-lt"/>
              </a:rPr>
              <a:t>‹#›</a:t>
            </a:fld>
            <a:endParaRPr kumimoji="0" 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2026/3/23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slideLayout" Target="../slideLayouts/slideLayout12.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slideLayout" Target="../slideLayouts/slideLayout12.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2" Type="http://schemas.openxmlformats.org/officeDocument/2006/relationships/tags" Target="../tags/tag6.xml"/><Relationship Id="rId16" Type="http://schemas.openxmlformats.org/officeDocument/2006/relationships/image" Target="../media/image3.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image" Target="../media/image4.png"/><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image" Target="../media/image3.png"/><Relationship Id="rId3" Type="http://schemas.openxmlformats.org/officeDocument/2006/relationships/tags" Target="../tags/tag19.xml"/><Relationship Id="rId21" Type="http://schemas.openxmlformats.org/officeDocument/2006/relationships/tags" Target="../tags/tag37.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slideLayout" Target="../slideLayouts/slideLayout12.xml"/><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tags" Target="../tags/tag36.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tags" Target="../tags/tag40.xml"/><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tags" Target="../tags/tag39.xml"/><Relationship Id="rId10" Type="http://schemas.openxmlformats.org/officeDocument/2006/relationships/tags" Target="../tags/tag26.xml"/><Relationship Id="rId19" Type="http://schemas.openxmlformats.org/officeDocument/2006/relationships/tags" Target="../tags/tag35.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38.xml"/><Relationship Id="rId27"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43.xml"/><Relationship Id="rId7" Type="http://schemas.openxmlformats.org/officeDocument/2006/relationships/image" Target="../media/image3.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E077DA78-E013-4A8C-AD75-63A150561B10}" type="slidenum">
              <a:rPr lang="zh-CN" altLang="en-US" smtClean="0"/>
              <a:t>1</a:t>
            </a:fld>
            <a:r>
              <a:rPr lang="zh-CN" altLang="en-US"/>
              <a:t>/</a:t>
            </a:r>
            <a:r>
              <a:rPr lang="en-US" altLang="zh-CN"/>
              <a:t>24</a:t>
            </a:r>
          </a:p>
        </p:txBody>
      </p:sp>
      <p:pic>
        <p:nvPicPr>
          <p:cNvPr id="3" name="picture 24"/>
          <p:cNvPicPr>
            <a:picLocks noChangeAspect="1"/>
          </p:cNvPicPr>
          <p:nvPr/>
        </p:nvPicPr>
        <p:blipFill>
          <a:blip r:embed="rId6"/>
          <a:stretch>
            <a:fillRect/>
          </a:stretch>
        </p:blipFill>
        <p:spPr>
          <a:xfrm rot="21600000">
            <a:off x="0" y="1007872"/>
            <a:ext cx="12192000" cy="5827775"/>
          </a:xfrm>
          <a:prstGeom prst="rect">
            <a:avLst/>
          </a:prstGeom>
        </p:spPr>
      </p:pic>
      <p:pic>
        <p:nvPicPr>
          <p:cNvPr id="4" name="picture 60"/>
          <p:cNvPicPr>
            <a:picLocks noChangeAspect="1"/>
          </p:cNvPicPr>
          <p:nvPr/>
        </p:nvPicPr>
        <p:blipFill>
          <a:blip r:embed="rId7"/>
          <a:stretch>
            <a:fillRect/>
          </a:stretch>
        </p:blipFill>
        <p:spPr>
          <a:xfrm rot="21600000">
            <a:off x="392715" y="226734"/>
            <a:ext cx="2875692" cy="780972"/>
          </a:xfrm>
          <a:prstGeom prst="rect">
            <a:avLst/>
          </a:prstGeom>
        </p:spPr>
      </p:pic>
      <p:sp>
        <p:nvSpPr>
          <p:cNvPr id="6" name="textbox 138"/>
          <p:cNvSpPr/>
          <p:nvPr/>
        </p:nvSpPr>
        <p:spPr>
          <a:xfrm>
            <a:off x="3420110" y="558165"/>
            <a:ext cx="8330565" cy="494030"/>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83000"/>
              </a:lnSpc>
              <a:spcBef>
                <a:spcPts val="0"/>
              </a:spcBef>
              <a:spcAft>
                <a:spcPts val="0"/>
              </a:spcAft>
              <a:buClrTx/>
              <a:buSzTx/>
              <a:buFontTx/>
              <a:buNone/>
              <a:defRPr/>
            </a:pPr>
            <a:endParaRPr kumimoji="0" sz="100" b="0" i="0" u="none" strike="noStrike" kern="1200" cap="none" spc="0" normalizeH="0" baseline="0" noProof="0" dirty="0">
              <a:ln>
                <a:noFill/>
              </a:ln>
              <a:solidFill>
                <a:prstClr val="black"/>
              </a:solidFill>
              <a:effectLst/>
              <a:uLnTx/>
              <a:uFillTx/>
              <a:latin typeface="Arial" panose="020B0604020202020204"/>
              <a:ea typeface="Arial" panose="020B0604020202020204"/>
              <a:cs typeface="Arial" panose="020B0604020202020204"/>
            </a:endParaRPr>
          </a:p>
          <a:p>
            <a:pPr marL="0" marR="0" lvl="0" indent="0" algn="r" defTabSz="914400" rtl="0" eaLnBrk="0" fontAlgn="auto" latinLnBrk="0" hangingPunct="1">
              <a:lnSpc>
                <a:spcPts val="3685"/>
              </a:lnSpc>
              <a:spcBef>
                <a:spcPts val="0"/>
              </a:spcBef>
              <a:spcAft>
                <a:spcPts val="0"/>
              </a:spcAft>
              <a:buClrTx/>
              <a:buSzTx/>
              <a:buFontTx/>
              <a:buNone/>
              <a:defRPr/>
            </a:pPr>
            <a:r>
              <a:rPr lang="zh-CN" sz="2700" b="1" kern="0" spc="70" dirty="0">
                <a:solidFill>
                  <a:srgbClr val="006666">
                    <a:alpha val="100000"/>
                  </a:srgbClr>
                </a:solidFill>
                <a:latin typeface="微软雅黑" panose="020B0503020204020204" charset="-122"/>
                <a:ea typeface="微软雅黑" panose="020B0503020204020204" charset="-122"/>
                <a:cs typeface="微软雅黑" panose="020B0503020204020204" charset="-122"/>
                <a:sym typeface="+mn-lt"/>
              </a:rPr>
              <a:t>目标思路</a:t>
            </a:r>
          </a:p>
        </p:txBody>
      </p:sp>
      <p:grpSp>
        <p:nvGrpSpPr>
          <p:cNvPr id="5" name="组合 4"/>
          <p:cNvGrpSpPr/>
          <p:nvPr/>
        </p:nvGrpSpPr>
        <p:grpSpPr>
          <a:xfrm>
            <a:off x="1019810" y="2679700"/>
            <a:ext cx="3847465" cy="3622040"/>
            <a:chOff x="1606" y="4220"/>
            <a:chExt cx="6059" cy="5704"/>
          </a:xfrm>
        </p:grpSpPr>
        <p:sp>
          <p:nvSpPr>
            <p:cNvPr id="22" name="圆角矩形 21"/>
            <p:cNvSpPr/>
            <p:nvPr>
              <p:custDataLst>
                <p:tags r:id="rId4"/>
              </p:custDataLst>
            </p:nvPr>
          </p:nvSpPr>
          <p:spPr>
            <a:xfrm>
              <a:off x="1606" y="4220"/>
              <a:ext cx="6059" cy="5704"/>
            </a:xfrm>
            <a:prstGeom prst="roundRect">
              <a:avLst>
                <a:gd name="adj" fmla="val 2170"/>
              </a:avLst>
            </a:prstGeom>
            <a:gradFill>
              <a:gsLst>
                <a:gs pos="100000">
                  <a:srgbClr val="1DBFAE">
                    <a:alpha val="7000"/>
                  </a:srgbClr>
                </a:gs>
                <a:gs pos="0">
                  <a:srgbClr val="00ACA1">
                    <a:alpha val="5000"/>
                  </a:srgbClr>
                </a:gs>
                <a:gs pos="55000">
                  <a:srgbClr val="69E5D9">
                    <a:alpha val="20000"/>
                  </a:srgbClr>
                </a:gs>
              </a:gsLst>
              <a:lin ang="2700000" scaled="0"/>
            </a:gradFill>
            <a:ln w="3175" cap="flat" cmpd="sng" algn="ctr">
              <a:solidFill>
                <a:srgbClr val="29918D"/>
              </a:solidFill>
              <a:prstDash val="sysDot"/>
              <a:miter lim="800000"/>
            </a:ln>
            <a:effectLst>
              <a:outerShdw blurRad="76200" dist="50800" dir="5400000" algn="t" rotWithShape="0">
                <a:sysClr val="windowText" lastClr="000000">
                  <a:lumMod val="95000"/>
                  <a:lumOff val="5000"/>
                  <a:alpha val="25000"/>
                </a:sysClr>
              </a:outerShdw>
            </a:effectLst>
          </p:spPr>
          <p:txBody>
            <a:bodyPr tIns="323850" rtlCol="0" anchor="t" anchorCtr="0"/>
            <a:lstStyle/>
            <a:p>
              <a:pPr indent="457200" algn="just" fontAlgn="auto">
                <a:lnSpc>
                  <a:spcPts val="2900"/>
                </a:lnSpc>
                <a:spcBef>
                  <a:spcPts val="0"/>
                </a:spcBef>
                <a:spcAft>
                  <a:spcPts val="0"/>
                </a:spcAft>
              </a:pPr>
              <a:endParaRPr lang="zh-CN" altLang="en-US" sz="1400" kern="0" dirty="0">
                <a:ln>
                  <a:noFill/>
                  <a:prstDash val="sysDot"/>
                </a:ln>
                <a:solidFill>
                  <a:srgbClr val="009895"/>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nvSpPr>
          <p:spPr>
            <a:xfrm>
              <a:off x="1606" y="4235"/>
              <a:ext cx="6058" cy="5378"/>
            </a:xfrm>
            <a:prstGeom prst="rect">
              <a:avLst/>
            </a:prstGeom>
            <a:noFill/>
          </p:spPr>
          <p:txBody>
            <a:bodyPr wrap="square" rtlCol="0">
              <a:spAutoFit/>
            </a:bodyPr>
            <a:lstStyle/>
            <a:p>
              <a:pPr indent="457200" algn="just" fontAlgn="auto">
                <a:lnSpc>
                  <a:spcPct val="150000"/>
                </a:lnSpc>
              </a:pPr>
              <a:r>
                <a:rPr lang="zh-CN" altLang="en-US" sz="1600" b="1"/>
                <a:t>各系统间数据共享不畅</a:t>
              </a:r>
              <a:r>
                <a:rPr lang="zh-CN" altLang="en-US" sz="1600"/>
                <a:t>，存在数据孤岛，提高数据质量，实现指标数据的集采实算是进一步深化全口径投资问效工作的重点。</a:t>
              </a:r>
            </a:p>
            <a:p>
              <a:pPr indent="457200" algn="just" fontAlgn="auto">
                <a:lnSpc>
                  <a:spcPct val="150000"/>
                </a:lnSpc>
              </a:pPr>
              <a:r>
                <a:rPr lang="zh-CN" altLang="en-US" sz="1600" b="1"/>
                <a:t>问效评价人工依赖度高</a:t>
              </a:r>
              <a:r>
                <a:rPr lang="zh-CN" altLang="en-US" sz="1600"/>
                <a:t>，评价数据整合难度大，难以形成系统化评估。亟需探索人工智能对关键指标的挖掘分析和预测监测，对单体项目开展全过程跟踪问效，提升问效效率效能。</a:t>
              </a:r>
            </a:p>
          </p:txBody>
        </p:sp>
      </p:grpSp>
      <p:sp>
        <p:nvSpPr>
          <p:cNvPr id="8" name="文本框 36"/>
          <p:cNvSpPr txBox="1"/>
          <p:nvPr>
            <p:custDataLst>
              <p:tags r:id="rId1"/>
            </p:custDataLst>
          </p:nvPr>
        </p:nvSpPr>
        <p:spPr>
          <a:xfrm>
            <a:off x="1903095" y="6294755"/>
            <a:ext cx="2002155" cy="323850"/>
          </a:xfrm>
          <a:prstGeom prst="rect">
            <a:avLst/>
          </a:prstGeom>
          <a:solidFill>
            <a:srgbClr val="00C0B0">
              <a:alpha val="60000"/>
            </a:srgbClr>
          </a:solidFill>
          <a:ln>
            <a:solidFill>
              <a:sysClr val="window" lastClr="FFFFFF"/>
            </a:solidFill>
          </a:ln>
          <a:effectLst>
            <a:outerShdw blurRad="50800" dist="38100" dir="5400000" algn="t" rotWithShape="0">
              <a:srgbClr val="074E4E">
                <a:alpha val="40000"/>
              </a:srgbClr>
            </a:outerShdw>
            <a:reflection blurRad="6350" stA="50000" endA="300" endPos="58000" dist="50800" dir="5400000" sy="-100000" algn="bl" rotWithShape="0"/>
          </a:effectLst>
        </p:spPr>
        <p:txBody>
          <a:bodyPr wrap="none" lIns="0" tIns="17780" rIns="0" bIns="0" rtlCol="0" anchor="ctr" anchorCtr="0">
            <a:noAutofit/>
          </a:bodyPr>
          <a:lstStyle/>
          <a:p>
            <a:pPr lvl="0" algn="ctr">
              <a:lnSpc>
                <a:spcPct val="100000"/>
              </a:lnSpc>
              <a:spcBef>
                <a:spcPts val="0"/>
              </a:spcBef>
              <a:spcAft>
                <a:spcPts val="0"/>
              </a:spcAft>
              <a:buClrTx/>
              <a:buSzTx/>
              <a:buFontTx/>
            </a:pPr>
            <a:r>
              <a:rPr lang="zh-CN" altLang="en-US" sz="1400" b="1" spc="150" noProof="0" dirty="0">
                <a:ln>
                  <a:noFill/>
                </a:ln>
                <a:solidFill>
                  <a:srgbClr val="FFFFFF"/>
                </a:solidFill>
                <a:effectLst/>
                <a:uLnTx/>
                <a:uFillTx/>
                <a:latin typeface="微软雅黑" panose="020B0503020204020204" charset="-122"/>
                <a:ea typeface="微软雅黑" panose="020B0503020204020204" charset="-122"/>
                <a:cs typeface="方正仿宋_GBK" panose="02000000000000000000" charset="-122"/>
                <a:sym typeface="微软雅黑" panose="020B0503020204020204" charset="-122"/>
              </a:rPr>
              <a:t>问题痛点</a:t>
            </a:r>
          </a:p>
        </p:txBody>
      </p:sp>
      <p:grpSp>
        <p:nvGrpSpPr>
          <p:cNvPr id="9" name="组合 8"/>
          <p:cNvGrpSpPr/>
          <p:nvPr/>
        </p:nvGrpSpPr>
        <p:grpSpPr>
          <a:xfrm>
            <a:off x="6776085" y="2672715"/>
            <a:ext cx="3847465" cy="3622040"/>
            <a:chOff x="10671" y="4209"/>
            <a:chExt cx="6059" cy="5704"/>
          </a:xfrm>
        </p:grpSpPr>
        <p:sp>
          <p:nvSpPr>
            <p:cNvPr id="10" name="圆角矩形 9"/>
            <p:cNvSpPr/>
            <p:nvPr>
              <p:custDataLst>
                <p:tags r:id="rId3"/>
              </p:custDataLst>
            </p:nvPr>
          </p:nvSpPr>
          <p:spPr>
            <a:xfrm>
              <a:off x="10671" y="4209"/>
              <a:ext cx="6059" cy="5704"/>
            </a:xfrm>
            <a:prstGeom prst="roundRect">
              <a:avLst>
                <a:gd name="adj" fmla="val 2170"/>
              </a:avLst>
            </a:prstGeom>
            <a:gradFill>
              <a:gsLst>
                <a:gs pos="100000">
                  <a:srgbClr val="1DBFAE">
                    <a:alpha val="7000"/>
                  </a:srgbClr>
                </a:gs>
                <a:gs pos="0">
                  <a:srgbClr val="00ACA1">
                    <a:alpha val="5000"/>
                  </a:srgbClr>
                </a:gs>
                <a:gs pos="55000">
                  <a:srgbClr val="69E5D9">
                    <a:alpha val="20000"/>
                  </a:srgbClr>
                </a:gs>
              </a:gsLst>
              <a:lin ang="2700000" scaled="0"/>
            </a:gradFill>
            <a:ln w="3175" cap="flat" cmpd="sng" algn="ctr">
              <a:solidFill>
                <a:srgbClr val="29918D"/>
              </a:solidFill>
              <a:prstDash val="sysDot"/>
              <a:miter lim="800000"/>
            </a:ln>
            <a:effectLst>
              <a:outerShdw blurRad="76200" dist="50800" dir="5400000" algn="t" rotWithShape="0">
                <a:sysClr val="windowText" lastClr="000000">
                  <a:lumMod val="95000"/>
                  <a:lumOff val="5000"/>
                  <a:alpha val="25000"/>
                </a:sysClr>
              </a:outerShdw>
            </a:effectLst>
          </p:spPr>
          <p:txBody>
            <a:bodyPr tIns="323850" rtlCol="0" anchor="t" anchorCtr="0"/>
            <a:lstStyle/>
            <a:p>
              <a:pPr indent="457200" algn="just" fontAlgn="auto">
                <a:lnSpc>
                  <a:spcPts val="2900"/>
                </a:lnSpc>
                <a:spcBef>
                  <a:spcPts val="0"/>
                </a:spcBef>
                <a:spcAft>
                  <a:spcPts val="0"/>
                </a:spcAft>
              </a:pPr>
              <a:endParaRPr lang="zh-CN" altLang="en-US" sz="1400" kern="0" dirty="0">
                <a:ln>
                  <a:noFill/>
                  <a:prstDash val="sysDot"/>
                </a:ln>
                <a:solidFill>
                  <a:srgbClr val="009895"/>
                </a:solidFill>
                <a:latin typeface="微软雅黑" panose="020B0503020204020204" charset="-122"/>
                <a:ea typeface="微软雅黑" panose="020B0503020204020204" charset="-122"/>
                <a:sym typeface="微软雅黑" panose="020B0503020204020204" charset="-122"/>
              </a:endParaRPr>
            </a:p>
          </p:txBody>
        </p:sp>
        <p:sp>
          <p:nvSpPr>
            <p:cNvPr id="11" name="文本框 10"/>
            <p:cNvSpPr txBox="1"/>
            <p:nvPr/>
          </p:nvSpPr>
          <p:spPr>
            <a:xfrm>
              <a:off x="10671" y="4270"/>
              <a:ext cx="6058" cy="5378"/>
            </a:xfrm>
            <a:prstGeom prst="rect">
              <a:avLst/>
            </a:prstGeom>
            <a:noFill/>
          </p:spPr>
          <p:txBody>
            <a:bodyPr wrap="square" rtlCol="0">
              <a:spAutoFit/>
            </a:bodyPr>
            <a:lstStyle/>
            <a:p>
              <a:pPr indent="457200" algn="just" fontAlgn="auto">
                <a:lnSpc>
                  <a:spcPct val="150000"/>
                </a:lnSpc>
              </a:pPr>
              <a:r>
                <a:rPr lang="zh-CN" altLang="en-US" sz="1600"/>
                <a:t>通过</a:t>
              </a:r>
              <a:r>
                <a:rPr lang="en-US" altLang="zh-CN" sz="1600"/>
                <a:t>“</a:t>
              </a:r>
              <a:r>
                <a:rPr lang="zh-CN" altLang="en-US" sz="1600"/>
                <a:t>光明电力大模型</a:t>
              </a:r>
              <a:r>
                <a:rPr lang="en-US" altLang="zh-CN" sz="1600"/>
                <a:t>+</a:t>
              </a:r>
              <a:r>
                <a:rPr lang="zh-CN" altLang="en-US" sz="1600"/>
                <a:t>智能体</a:t>
              </a:r>
              <a:r>
                <a:rPr lang="en-US" altLang="zh-CN" sz="1600"/>
                <a:t>”</a:t>
              </a:r>
              <a:r>
                <a:rPr lang="zh-CN" altLang="en-US" sz="1600"/>
                <a:t>的形式，实现从数据获取、数据分析到报告生成的全流程自动化，</a:t>
              </a:r>
              <a:r>
                <a:rPr lang="zh-CN" altLang="en-US" sz="1600">
                  <a:sym typeface="+mn-ea"/>
                </a:rPr>
                <a:t>填补现有技术体系在智能分析与流程自动化处理的空白。</a:t>
              </a:r>
              <a:r>
                <a:rPr lang="zh-CN" altLang="en-US" sz="1600"/>
                <a:t>利用智能体高效协作，快速精准对投产项目运行情况做出评价，为设备扩容、负荷转供等决策提供数据支撑，助力提升投资效益与电网运行可靠性</a:t>
              </a:r>
              <a:r>
                <a:rPr lang="zh-CN" altLang="en-US" sz="1600">
                  <a:sym typeface="+mn-ea"/>
                </a:rPr>
                <a:t>，为业务全流程投资问效体系建设奠定基础。</a:t>
              </a:r>
              <a:endParaRPr lang="zh-CN" altLang="en-US" sz="1600"/>
            </a:p>
          </p:txBody>
        </p:sp>
      </p:grpSp>
      <p:sp>
        <p:nvSpPr>
          <p:cNvPr id="12" name="文本框 36"/>
          <p:cNvSpPr txBox="1"/>
          <p:nvPr>
            <p:custDataLst>
              <p:tags r:id="rId2"/>
            </p:custDataLst>
          </p:nvPr>
        </p:nvSpPr>
        <p:spPr>
          <a:xfrm>
            <a:off x="7698740" y="6301740"/>
            <a:ext cx="2002155" cy="323850"/>
          </a:xfrm>
          <a:prstGeom prst="rect">
            <a:avLst/>
          </a:prstGeom>
          <a:solidFill>
            <a:srgbClr val="00C0B0">
              <a:alpha val="60000"/>
            </a:srgbClr>
          </a:solidFill>
          <a:ln>
            <a:solidFill>
              <a:sysClr val="window" lastClr="FFFFFF"/>
            </a:solidFill>
          </a:ln>
          <a:effectLst>
            <a:outerShdw blurRad="50800" dist="38100" dir="5400000" algn="t" rotWithShape="0">
              <a:srgbClr val="074E4E">
                <a:alpha val="40000"/>
              </a:srgbClr>
            </a:outerShdw>
            <a:reflection blurRad="6350" stA="50000" endA="300" endPos="58000" dist="50800" dir="5400000" sy="-100000" algn="bl" rotWithShape="0"/>
          </a:effectLst>
        </p:spPr>
        <p:txBody>
          <a:bodyPr wrap="none" lIns="0" tIns="17780" rIns="0" bIns="0" rtlCol="0" anchor="ctr" anchorCtr="0">
            <a:noAutofit/>
          </a:bodyPr>
          <a:lstStyle/>
          <a:p>
            <a:pPr lvl="0" algn="ctr">
              <a:lnSpc>
                <a:spcPct val="100000"/>
              </a:lnSpc>
              <a:spcBef>
                <a:spcPts val="0"/>
              </a:spcBef>
              <a:spcAft>
                <a:spcPts val="0"/>
              </a:spcAft>
              <a:buClrTx/>
              <a:buSzTx/>
              <a:buFontTx/>
            </a:pPr>
            <a:r>
              <a:rPr lang="zh-CN" altLang="en-US" sz="1400" b="1" spc="150" noProof="0" dirty="0">
                <a:ln>
                  <a:noFill/>
                </a:ln>
                <a:solidFill>
                  <a:srgbClr val="FFFFFF"/>
                </a:solidFill>
                <a:effectLst/>
                <a:uLnTx/>
                <a:uFillTx/>
                <a:latin typeface="微软雅黑" panose="020B0503020204020204" charset="-122"/>
                <a:ea typeface="微软雅黑" panose="020B0503020204020204" charset="-122"/>
                <a:cs typeface="方正仿宋_GBK" panose="02000000000000000000" charset="-122"/>
                <a:sym typeface="微软雅黑" panose="020B0503020204020204" charset="-122"/>
              </a:rPr>
              <a:t>解决思路</a:t>
            </a:r>
          </a:p>
        </p:txBody>
      </p:sp>
      <p:sp>
        <p:nvSpPr>
          <p:cNvPr id="13" name="文本框 12"/>
          <p:cNvSpPr txBox="1"/>
          <p:nvPr/>
        </p:nvSpPr>
        <p:spPr>
          <a:xfrm>
            <a:off x="215900" y="1159510"/>
            <a:ext cx="11635105" cy="1197102"/>
          </a:xfrm>
          <a:prstGeom prst="rect">
            <a:avLst/>
          </a:prstGeom>
          <a:noFill/>
          <a:ln>
            <a:solidFill>
              <a:srgbClr val="6DAEAB"/>
            </a:solidFill>
          </a:ln>
        </p:spPr>
        <p:txBody>
          <a:bodyPr wrap="square" rtlCol="0">
            <a:noAutofit/>
          </a:bodyPr>
          <a:lstStyle/>
          <a:p>
            <a:pPr marL="0" marR="0" lvl="0" indent="457200" algn="just"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根据</a:t>
            </a:r>
            <a:r>
              <a:rPr kumimoji="0" lang="en-US" altLang="zh-CN"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2024</a:t>
            </a:r>
            <a:r>
              <a:rPr kumimoji="0" lang="zh-CN" altLang="en-US"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年问效工作结果，主要存在</a:t>
            </a:r>
            <a:r>
              <a:rPr kumimoji="0" lang="zh-CN" altLang="en-US" sz="18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问效人工依赖程度高、数据采集不全面、分析不深</a:t>
            </a:r>
            <a:r>
              <a:rPr kumimoji="0" lang="zh-CN" altLang="en-US"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入等问题，为进一步提升问效自动化水平，引入智能分析工具，构建</a:t>
            </a:r>
            <a:r>
              <a:rPr kumimoji="0" lang="en-US" altLang="zh-CN"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35</a:t>
            </a:r>
            <a:r>
              <a:rPr kumimoji="0" lang="zh-CN" altLang="en-US"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千伏及以上项目智能问效模型，实现全口径问效数据自动采集、多维度指标智能分析，提高问效效率和精准度。</a:t>
            </a:r>
          </a:p>
          <a:p>
            <a:pPr marL="0" marR="0" lvl="0" indent="457200" algn="just" defTabSz="914400" rtl="0" eaLnBrk="1" fontAlgn="auto" latinLnBrk="0" hangingPunct="1">
              <a:lnSpc>
                <a:spcPct val="13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4"/>
          <p:cNvPicPr>
            <a:picLocks noChangeAspect="1"/>
          </p:cNvPicPr>
          <p:nvPr/>
        </p:nvPicPr>
        <p:blipFill>
          <a:blip r:embed="rId3"/>
          <a:stretch>
            <a:fillRect/>
          </a:stretch>
        </p:blipFill>
        <p:spPr>
          <a:xfrm rot="21600000">
            <a:off x="0" y="1007872"/>
            <a:ext cx="12192000" cy="5827775"/>
          </a:xfrm>
          <a:prstGeom prst="rect">
            <a:avLst/>
          </a:prstGeom>
        </p:spPr>
      </p:pic>
      <p:pic>
        <p:nvPicPr>
          <p:cNvPr id="3" name="picture 60"/>
          <p:cNvPicPr>
            <a:picLocks noChangeAspect="1"/>
          </p:cNvPicPr>
          <p:nvPr/>
        </p:nvPicPr>
        <p:blipFill>
          <a:blip r:embed="rId4"/>
          <a:stretch>
            <a:fillRect/>
          </a:stretch>
        </p:blipFill>
        <p:spPr>
          <a:xfrm rot="21600000">
            <a:off x="392715" y="226734"/>
            <a:ext cx="2875692" cy="780972"/>
          </a:xfrm>
          <a:prstGeom prst="rect">
            <a:avLst/>
          </a:prstGeom>
        </p:spPr>
      </p:pic>
      <p:sp>
        <p:nvSpPr>
          <p:cNvPr id="4" name="textbox 76"/>
          <p:cNvSpPr/>
          <p:nvPr/>
        </p:nvSpPr>
        <p:spPr>
          <a:xfrm>
            <a:off x="7522210" y="579755"/>
            <a:ext cx="4417695" cy="409575"/>
          </a:xfrm>
          <a:prstGeom prst="rect">
            <a:avLst/>
          </a:prstGeom>
          <a:noFill/>
          <a:ln w="0" cap="flat">
            <a:noFill/>
            <a:prstDash val="solid"/>
            <a:miter lim="0"/>
          </a:ln>
        </p:spPr>
        <p:txBody>
          <a:bodyPr vert="horz" wrap="square" lIns="0" tIns="0" rIns="0" bIns="0"/>
          <a:lstStyle/>
          <a:p>
            <a:pPr marL="0" marR="0" lvl="0" indent="0" algn="r" defTabSz="914400" rtl="0" eaLnBrk="0" fontAlgn="auto" latinLnBrk="0" hangingPunct="1">
              <a:lnSpc>
                <a:spcPct val="90000"/>
              </a:lnSpc>
              <a:spcBef>
                <a:spcPts val="0"/>
              </a:spcBef>
              <a:spcAft>
                <a:spcPts val="0"/>
              </a:spcAft>
              <a:buClrTx/>
              <a:buSzTx/>
              <a:buFontTx/>
              <a:buNone/>
              <a:defRPr/>
            </a:pPr>
            <a:endParaRPr kumimoji="0" lang="zh-CN" altLang="en-US" sz="2700" b="1" i="0" u="none" strike="noStrike" kern="0" cap="none" spc="70" normalizeH="0" baseline="0" noProof="0" dirty="0">
              <a:ln>
                <a:noFill/>
              </a:ln>
              <a:solidFill>
                <a:srgbClr val="006666">
                  <a:alpha val="100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 name="textbox 138"/>
          <p:cNvSpPr/>
          <p:nvPr/>
        </p:nvSpPr>
        <p:spPr>
          <a:xfrm>
            <a:off x="3420110" y="558165"/>
            <a:ext cx="8330565" cy="494030"/>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83000"/>
              </a:lnSpc>
              <a:spcBef>
                <a:spcPts val="0"/>
              </a:spcBef>
              <a:spcAft>
                <a:spcPts val="0"/>
              </a:spcAft>
              <a:buClrTx/>
              <a:buSzTx/>
              <a:buFontTx/>
              <a:buNone/>
              <a:defRPr/>
            </a:pPr>
            <a:endParaRPr kumimoji="0" sz="100" b="0" i="0" u="none" strike="noStrike" kern="1200" cap="none" spc="0" normalizeH="0" baseline="0" noProof="0" dirty="0">
              <a:ln>
                <a:noFill/>
              </a:ln>
              <a:solidFill>
                <a:prstClr val="black"/>
              </a:solidFill>
              <a:effectLst/>
              <a:uLnTx/>
              <a:uFillTx/>
              <a:latin typeface="Arial" panose="020B0604020202020204"/>
              <a:ea typeface="Arial" panose="020B0604020202020204"/>
              <a:cs typeface="Arial" panose="020B0604020202020204"/>
            </a:endParaRPr>
          </a:p>
          <a:p>
            <a:pPr marL="0" marR="0" lvl="0" indent="0" algn="r" defTabSz="914400" rtl="0" eaLnBrk="0" fontAlgn="auto" latinLnBrk="0" hangingPunct="1">
              <a:lnSpc>
                <a:spcPts val="3685"/>
              </a:lnSpc>
              <a:spcBef>
                <a:spcPts val="0"/>
              </a:spcBef>
              <a:spcAft>
                <a:spcPts val="0"/>
              </a:spcAft>
              <a:buClrTx/>
              <a:buSzTx/>
              <a:buFontTx/>
              <a:buNone/>
              <a:defRPr/>
            </a:pPr>
            <a:r>
              <a:rPr lang="zh-CN" sz="2700" b="1" kern="0" spc="70" dirty="0">
                <a:solidFill>
                  <a:srgbClr val="006666">
                    <a:alpha val="100000"/>
                  </a:srgbClr>
                </a:solidFill>
                <a:latin typeface="微软雅黑" panose="020B0503020204020204" charset="-122"/>
                <a:ea typeface="微软雅黑" panose="020B0503020204020204" charset="-122"/>
                <a:cs typeface="微软雅黑" panose="020B0503020204020204" charset="-122"/>
                <a:sym typeface="+mn-lt"/>
              </a:rPr>
              <a:t>场景设计</a:t>
            </a:r>
          </a:p>
        </p:txBody>
      </p:sp>
      <p:sp>
        <p:nvSpPr>
          <p:cNvPr id="5" name="文本框 4"/>
          <p:cNvSpPr txBox="1"/>
          <p:nvPr/>
        </p:nvSpPr>
        <p:spPr>
          <a:xfrm>
            <a:off x="215900" y="1159510"/>
            <a:ext cx="11635105" cy="1459230"/>
          </a:xfrm>
          <a:prstGeom prst="rect">
            <a:avLst/>
          </a:prstGeom>
          <a:noFill/>
          <a:ln>
            <a:solidFill>
              <a:srgbClr val="6DAEAB"/>
            </a:solidFill>
          </a:ln>
        </p:spPr>
        <p:txBody>
          <a:bodyPr wrap="square" rtlCol="0">
            <a:noAutofit/>
          </a:bodyPr>
          <a:lstStyle/>
          <a:p>
            <a:pPr marL="0" marR="0" lvl="0" indent="457200" algn="just" defTabSz="914400" rtl="0" eaLnBrk="1" fontAlgn="auto" latinLnBrk="0" hangingPunct="1">
              <a:lnSpc>
                <a:spcPct val="130000"/>
              </a:lnSpc>
              <a:spcBef>
                <a:spcPts val="0"/>
              </a:spcBef>
              <a:spcAft>
                <a:spcPts val="0"/>
              </a:spcAft>
              <a:buClrTx/>
              <a:buSzTx/>
              <a:buFontTx/>
              <a:buNone/>
              <a:defRPr/>
            </a:pPr>
            <a:r>
              <a:rPr kumimoji="0" lang="zh-CN" altLang="en-US"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构建</a:t>
            </a:r>
            <a:r>
              <a:rPr kumimoji="0" lang="zh-CN" altLang="en-US"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35千伏及以上已投产项目评价智能体</a:t>
            </a:r>
            <a:r>
              <a:rPr kumimoji="0" lang="zh-CN" altLang="en-US"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，应用提示词工程、通过</a:t>
            </a:r>
            <a:r>
              <a:rPr kumimoji="0" lang="en-US" altLang="zh-CN"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AI</a:t>
            </a:r>
            <a:r>
              <a:rPr kumimoji="0" lang="zh-CN" altLang="en-US"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算法自动提取关键指标数据，智能比对预测与实际差异，结合问效评价规则，生成项目成效评估结果，精准定位问题根源，提出优化建议，</a:t>
            </a:r>
            <a:r>
              <a:rPr kumimoji="0" lang="zh-CN" altLang="en-US"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基于光明大模型</a:t>
            </a:r>
            <a:r>
              <a:rPr kumimoji="0" lang="zh-CN" altLang="en-US"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，输出评价报告。主要由</a:t>
            </a:r>
            <a:r>
              <a:rPr kumimoji="0" lang="zh-CN" altLang="en-US"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问效智能体、问效看板</a:t>
            </a:r>
            <a:r>
              <a:rPr kumimoji="0" lang="zh-CN" altLang="en-US"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组成，智能体负载进行投资问效分析，问效看板则用于可视化展示投资问效评价结果。</a:t>
            </a:r>
          </a:p>
        </p:txBody>
      </p:sp>
      <p:sp>
        <p:nvSpPr>
          <p:cNvPr id="319" name="矩形 318"/>
          <p:cNvSpPr/>
          <p:nvPr/>
        </p:nvSpPr>
        <p:spPr>
          <a:xfrm>
            <a:off x="8582025" y="4055745"/>
            <a:ext cx="3182620" cy="2728595"/>
          </a:xfrm>
          <a:prstGeom prst="rect">
            <a:avLst/>
          </a:prstGeom>
          <a:solidFill>
            <a:srgbClr val="FFF2CA"/>
          </a:solidFill>
          <a:ln w="15875" cap="flat" cmpd="sng" algn="ctr">
            <a:solidFill>
              <a:srgbClr val="30C0B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charset="-122"/>
              <a:cs typeface="+mn-cs"/>
            </a:endParaRPr>
          </a:p>
        </p:txBody>
      </p:sp>
      <p:sp>
        <p:nvSpPr>
          <p:cNvPr id="320" name="矩形 319"/>
          <p:cNvSpPr/>
          <p:nvPr/>
        </p:nvSpPr>
        <p:spPr>
          <a:xfrm>
            <a:off x="407670" y="2709545"/>
            <a:ext cx="7890510" cy="4074795"/>
          </a:xfrm>
          <a:prstGeom prst="rect">
            <a:avLst/>
          </a:prstGeom>
          <a:solidFill>
            <a:srgbClr val="D0EBE8"/>
          </a:solidFill>
          <a:ln w="15875" cap="flat" cmpd="sng" algn="ctr">
            <a:solidFill>
              <a:srgbClr val="24908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p:txBody>
      </p:sp>
      <p:sp>
        <p:nvSpPr>
          <p:cNvPr id="321" name="矩形: 圆角 16"/>
          <p:cNvSpPr/>
          <p:nvPr/>
        </p:nvSpPr>
        <p:spPr>
          <a:xfrm>
            <a:off x="2998830" y="3365205"/>
            <a:ext cx="1079500" cy="360000"/>
          </a:xfrm>
          <a:prstGeom prst="roundRect">
            <a:avLst/>
          </a:prstGeom>
          <a:solidFill>
            <a:sysClr val="window" lastClr="FFFFFF"/>
          </a:solidFill>
          <a:ln w="9525" cap="flat" cmpd="sng" algn="ctr">
            <a:solidFill>
              <a:srgbClr val="0D8076"/>
            </a:solidFill>
            <a:prstDash val="solid"/>
            <a:round/>
            <a:headEnd type="none" w="med" len="med"/>
            <a:tailEnd type="none" w="med" len="med"/>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可研报告处理</a:t>
            </a:r>
            <a:endParaRPr kumimoji="0" lang="en-US" altLang="zh-CN" sz="1000" b="0" i="0" u="none" strike="noStrike" kern="0" cap="none" spc="0" normalizeH="0" baseline="0" noProof="0">
              <a:ln>
                <a:noFill/>
              </a:ln>
              <a:solidFill>
                <a:srgbClr val="006D50"/>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a:ln>
                  <a:noFill/>
                </a:ln>
                <a:solidFill>
                  <a:srgbClr val="006D50"/>
                </a:solidFill>
                <a:effectLst/>
                <a:uLnTx/>
                <a:uFillTx/>
                <a:latin typeface="微软雅黑" panose="020B0503020204020204" charset="-122"/>
                <a:ea typeface="微软雅黑" panose="020B0503020204020204" charset="-122"/>
                <a:cs typeface="+mn-cs"/>
                <a:sym typeface="+mn-ea"/>
              </a:rPr>
              <a:t>智能</a:t>
            </a: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体</a:t>
            </a:r>
          </a:p>
        </p:txBody>
      </p:sp>
      <p:sp>
        <p:nvSpPr>
          <p:cNvPr id="322" name="矩形: 圆角 321"/>
          <p:cNvSpPr/>
          <p:nvPr/>
        </p:nvSpPr>
        <p:spPr>
          <a:xfrm>
            <a:off x="6846435" y="3365205"/>
            <a:ext cx="1079500" cy="360000"/>
          </a:xfrm>
          <a:prstGeom prst="roundRect">
            <a:avLst/>
          </a:prstGeom>
          <a:solidFill>
            <a:sysClr val="window" lastClr="FFFFFF"/>
          </a:solidFill>
          <a:ln w="9525" cap="flat" cmpd="sng" algn="ctr">
            <a:solidFill>
              <a:srgbClr val="0D8076"/>
            </a:solidFill>
            <a:prstDash val="solid"/>
            <a:round/>
            <a:headEnd type="none" w="med" len="med"/>
            <a:tailEnd type="none" w="med" len="med"/>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生产数据</a:t>
            </a:r>
            <a:endParaRPr kumimoji="0" lang="en-US" altLang="zh-CN"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查询智能体</a:t>
            </a:r>
          </a:p>
        </p:txBody>
      </p:sp>
      <p:sp>
        <p:nvSpPr>
          <p:cNvPr id="323" name="矩形: 圆角 322"/>
          <p:cNvSpPr/>
          <p:nvPr/>
        </p:nvSpPr>
        <p:spPr>
          <a:xfrm>
            <a:off x="4790055" y="4194833"/>
            <a:ext cx="1080000" cy="360000"/>
          </a:xfrm>
          <a:prstGeom prst="roundRect">
            <a:avLst/>
          </a:prstGeom>
          <a:solidFill>
            <a:srgbClr val="FFFFFF"/>
          </a:solidFill>
          <a:ln w="9525" cap="flat" cmpd="sng" algn="ctr">
            <a:solidFill>
              <a:srgbClr val="006D50"/>
            </a:solidFill>
            <a:prstDash val="solid"/>
            <a:round/>
            <a:headEnd type="none" w="med" len="med"/>
            <a:tailEnd type="none" w="med" len="med"/>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数据对比</a:t>
            </a:r>
            <a:r>
              <a:rPr lang="zh-CN" altLang="en-US" sz="1000" kern="0" noProof="0" dirty="0">
                <a:ln>
                  <a:noFill/>
                </a:ln>
                <a:solidFill>
                  <a:srgbClr val="006D50"/>
                </a:solidFill>
                <a:effectLst/>
                <a:uLnTx/>
                <a:uFillTx/>
                <a:latin typeface="微软雅黑" panose="020B0503020204020204" charset="-122"/>
                <a:ea typeface="微软雅黑" panose="020B0503020204020204" charset="-122"/>
                <a:sym typeface="+mn-ea"/>
              </a:rPr>
              <a:t>分析</a:t>
            </a:r>
            <a:endParaRPr kumimoji="0" lang="en-US" altLang="zh-CN"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智能体</a:t>
            </a:r>
          </a:p>
        </p:txBody>
      </p:sp>
      <p:sp>
        <p:nvSpPr>
          <p:cNvPr id="324" name="矩形: 圆角 323"/>
          <p:cNvSpPr/>
          <p:nvPr/>
        </p:nvSpPr>
        <p:spPr>
          <a:xfrm>
            <a:off x="1061720" y="4195128"/>
            <a:ext cx="1080000" cy="359410"/>
          </a:xfrm>
          <a:prstGeom prst="roundRect">
            <a:avLst/>
          </a:prstGeom>
          <a:solidFill>
            <a:srgbClr val="FFFFFF"/>
          </a:solidFill>
          <a:ln w="9525" cap="flat" cmpd="sng" algn="ctr">
            <a:solidFill>
              <a:srgbClr val="006D50"/>
            </a:solidFill>
            <a:prstDash val="solid"/>
            <a:round/>
            <a:headEnd type="none" w="med" len="med"/>
            <a:tailEnd type="none" w="med" len="med"/>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评价报告生成</a:t>
            </a:r>
            <a:endParaRPr kumimoji="0" lang="en-US" altLang="zh-CN"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006D50"/>
                </a:solidFill>
                <a:effectLst/>
                <a:uLnTx/>
                <a:uFillTx/>
                <a:latin typeface="微软雅黑" panose="020B0503020204020204" charset="-122"/>
                <a:ea typeface="微软雅黑" panose="020B0503020204020204" charset="-122"/>
                <a:cs typeface="+mn-cs"/>
                <a:sym typeface="+mn-ea"/>
              </a:rPr>
              <a:t>智能体</a:t>
            </a:r>
          </a:p>
        </p:txBody>
      </p:sp>
      <p:sp>
        <p:nvSpPr>
          <p:cNvPr id="325" name="矩形: 圆角 324"/>
          <p:cNvSpPr/>
          <p:nvPr/>
        </p:nvSpPr>
        <p:spPr>
          <a:xfrm>
            <a:off x="677545" y="3365205"/>
            <a:ext cx="1080000" cy="360000"/>
          </a:xfrm>
          <a:prstGeom prst="roundRect">
            <a:avLst>
              <a:gd name="adj" fmla="val 13934"/>
            </a:avLst>
          </a:prstGeom>
          <a:solidFill>
            <a:srgbClr val="249087"/>
          </a:solidFill>
          <a:ln w="12700" cap="flat" cmpd="sng" algn="ctr">
            <a:noFill/>
            <a:prstDash val="solid"/>
            <a:miter lim="800000"/>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可研报告</a:t>
            </a:r>
            <a:r>
              <a:rPr kumimoji="0" lang="en-US" altLang="zh-CN"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 </a:t>
            </a:r>
          </a:p>
        </p:txBody>
      </p:sp>
      <p:sp>
        <p:nvSpPr>
          <p:cNvPr id="326" name="矩形: 圆角 325"/>
          <p:cNvSpPr/>
          <p:nvPr/>
        </p:nvSpPr>
        <p:spPr>
          <a:xfrm>
            <a:off x="4790305" y="3266123"/>
            <a:ext cx="1079500" cy="230505"/>
          </a:xfrm>
          <a:prstGeom prst="roundRect">
            <a:avLst>
              <a:gd name="adj" fmla="val 50000"/>
            </a:avLst>
          </a:prstGeom>
          <a:solidFill>
            <a:srgbClr val="249087"/>
          </a:solidFill>
          <a:ln w="12700" cap="flat" cmpd="sng" algn="ctr">
            <a:noFill/>
            <a:prstDash val="solid"/>
            <a:miter lim="800000"/>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存储可研报告</a:t>
            </a:r>
          </a:p>
        </p:txBody>
      </p:sp>
      <p:sp>
        <p:nvSpPr>
          <p:cNvPr id="327" name="矩形: 圆角 326"/>
          <p:cNvSpPr/>
          <p:nvPr/>
        </p:nvSpPr>
        <p:spPr>
          <a:xfrm>
            <a:off x="6845300" y="4194833"/>
            <a:ext cx="1080000" cy="360000"/>
          </a:xfrm>
          <a:prstGeom prst="roundRect">
            <a:avLst>
              <a:gd name="adj" fmla="val 50000"/>
            </a:avLst>
          </a:prstGeom>
          <a:solidFill>
            <a:srgbClr val="EEB600"/>
          </a:solidFill>
          <a:ln w="12700" cap="flat" cmpd="sng" algn="ctr">
            <a:noFill/>
            <a:prstDash val="solid"/>
            <a:miter lim="800000"/>
          </a:ln>
          <a:effectLst>
            <a:outerShdw blurRad="101600" dist="50800" dir="6600000" algn="ctr" rotWithShape="0">
              <a:srgbClr val="75BD42">
                <a:alpha val="60000"/>
              </a:srgbClr>
            </a:outerShdw>
          </a:effectLst>
        </p:spPr>
        <p:txBody>
          <a:bodyPr lIns="71755"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100" normalizeH="0" baseline="0" noProof="0" dirty="0">
                <a:ln>
                  <a:noFill/>
                </a:ln>
                <a:solidFill>
                  <a:prstClr val="white"/>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cs typeface="+mn-cs"/>
              </a:rPr>
              <a:t>变电站</a:t>
            </a:r>
            <a:endParaRPr kumimoji="0" lang="en-US" altLang="zh-CN" sz="1000" b="1" i="0" u="none" strike="noStrike" kern="0" cap="none" spc="100" normalizeH="0" baseline="0" noProof="0" dirty="0">
              <a:ln>
                <a:noFill/>
              </a:ln>
              <a:solidFill>
                <a:prstClr val="white"/>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100" normalizeH="0" baseline="0" noProof="0" dirty="0">
                <a:ln>
                  <a:noFill/>
                </a:ln>
                <a:solidFill>
                  <a:prstClr val="white"/>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cs typeface="+mn-cs"/>
              </a:rPr>
              <a:t>生产数据</a:t>
            </a:r>
          </a:p>
        </p:txBody>
      </p:sp>
      <p:sp>
        <p:nvSpPr>
          <p:cNvPr id="328" name="矩形: 圆角 327"/>
          <p:cNvSpPr/>
          <p:nvPr/>
        </p:nvSpPr>
        <p:spPr>
          <a:xfrm>
            <a:off x="2998580" y="4194833"/>
            <a:ext cx="1080000" cy="360000"/>
          </a:xfrm>
          <a:prstGeom prst="roundRect">
            <a:avLst>
              <a:gd name="adj" fmla="val 50000"/>
            </a:avLst>
          </a:prstGeom>
          <a:solidFill>
            <a:srgbClr val="EEB600"/>
          </a:solidFill>
          <a:ln w="12700" cap="flat" cmpd="sng" algn="ctr">
            <a:noFill/>
            <a:prstDash val="solid"/>
            <a:miter lim="800000"/>
          </a:ln>
          <a:effectLst/>
        </p:spPr>
        <p:txBody>
          <a:bodyPr lIns="71755"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100" normalizeH="0" baseline="0" noProof="0" dirty="0">
                <a:ln>
                  <a:noFill/>
                </a:ln>
                <a:solidFill>
                  <a:prstClr val="white"/>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cs typeface="+mn-cs"/>
              </a:rPr>
              <a:t>评价结论</a:t>
            </a:r>
          </a:p>
        </p:txBody>
      </p:sp>
      <p:cxnSp>
        <p:nvCxnSpPr>
          <p:cNvPr id="329" name="直接箭头连接符 328"/>
          <p:cNvCxnSpPr/>
          <p:nvPr/>
        </p:nvCxnSpPr>
        <p:spPr>
          <a:xfrm>
            <a:off x="1757680" y="3545840"/>
            <a:ext cx="1241425" cy="0"/>
          </a:xfrm>
          <a:prstGeom prst="straightConnector1">
            <a:avLst/>
          </a:prstGeom>
          <a:noFill/>
          <a:ln w="15875" cap="flat" cmpd="sng" algn="ctr">
            <a:solidFill>
              <a:srgbClr val="249087"/>
            </a:solidFill>
            <a:prstDash val="solid"/>
            <a:miter lim="800000"/>
            <a:tailEnd type="triangle"/>
          </a:ln>
          <a:effectLst/>
        </p:spPr>
      </p:cxnSp>
      <p:sp>
        <p:nvSpPr>
          <p:cNvPr id="330" name="矩形: 圆角 329"/>
          <p:cNvSpPr/>
          <p:nvPr/>
        </p:nvSpPr>
        <p:spPr>
          <a:xfrm>
            <a:off x="4790055" y="3627755"/>
            <a:ext cx="1080000" cy="230505"/>
          </a:xfrm>
          <a:prstGeom prst="roundRect">
            <a:avLst>
              <a:gd name="adj" fmla="val 50000"/>
            </a:avLst>
          </a:prstGeom>
          <a:solidFill>
            <a:srgbClr val="EEB600"/>
          </a:solidFill>
          <a:ln w="12700" cap="flat" cmpd="sng" algn="ctr">
            <a:noFill/>
            <a:prstDash val="solid"/>
            <a:miter lim="800000"/>
          </a:ln>
          <a:effectLst/>
        </p:spPr>
        <p:txBody>
          <a:bodyPr lIns="71755"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100" normalizeH="0" baseline="0" noProof="0" dirty="0">
                <a:ln>
                  <a:noFill/>
                </a:ln>
                <a:solidFill>
                  <a:prstClr val="white"/>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cs typeface="+mn-cs"/>
              </a:rPr>
              <a:t>可研报告指标</a:t>
            </a:r>
          </a:p>
        </p:txBody>
      </p:sp>
      <p:sp>
        <p:nvSpPr>
          <p:cNvPr id="331" name="矩形: 圆角 330"/>
          <p:cNvSpPr/>
          <p:nvPr/>
        </p:nvSpPr>
        <p:spPr>
          <a:xfrm>
            <a:off x="1061720" y="5108847"/>
            <a:ext cx="1080000" cy="359410"/>
          </a:xfrm>
          <a:prstGeom prst="roundRect">
            <a:avLst>
              <a:gd name="adj" fmla="val 50000"/>
            </a:avLst>
          </a:prstGeom>
          <a:solidFill>
            <a:srgbClr val="EEB600"/>
          </a:solidFill>
          <a:ln w="12700" cap="flat" cmpd="sng" algn="ctr">
            <a:noFill/>
            <a:prstDash val="solid"/>
            <a:miter lim="800000"/>
          </a:ln>
          <a:effectLst/>
        </p:spPr>
        <p:txBody>
          <a:bodyPr lIns="71755"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100" normalizeH="0" baseline="0" noProof="0" dirty="0">
                <a:ln>
                  <a:noFill/>
                </a:ln>
                <a:solidFill>
                  <a:prstClr val="white"/>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cs typeface="+mn-cs"/>
              </a:rPr>
              <a:t>评价报告</a:t>
            </a:r>
          </a:p>
        </p:txBody>
      </p:sp>
      <p:cxnSp>
        <p:nvCxnSpPr>
          <p:cNvPr id="332" name="直接箭头连接符 331"/>
          <p:cNvCxnSpPr>
            <a:stCxn id="323" idx="1"/>
            <a:endCxn id="328" idx="3"/>
          </p:cNvCxnSpPr>
          <p:nvPr/>
        </p:nvCxnSpPr>
        <p:spPr>
          <a:xfrm flipH="1">
            <a:off x="4078605" y="4374833"/>
            <a:ext cx="711200" cy="0"/>
          </a:xfrm>
          <a:prstGeom prst="straightConnector1">
            <a:avLst/>
          </a:prstGeom>
          <a:noFill/>
          <a:ln w="15875" cap="flat" cmpd="sng" algn="ctr">
            <a:solidFill>
              <a:srgbClr val="249087"/>
            </a:solidFill>
            <a:prstDash val="solid"/>
            <a:miter lim="800000"/>
            <a:tailEnd type="triangle"/>
          </a:ln>
          <a:effectLst/>
        </p:spPr>
      </p:cxnSp>
      <p:cxnSp>
        <p:nvCxnSpPr>
          <p:cNvPr id="333" name="直接箭头连接符 332"/>
          <p:cNvCxnSpPr>
            <a:stCxn id="328" idx="1"/>
            <a:endCxn id="324" idx="3"/>
          </p:cNvCxnSpPr>
          <p:nvPr/>
        </p:nvCxnSpPr>
        <p:spPr>
          <a:xfrm flipH="1" flipV="1">
            <a:off x="2141855" y="4374515"/>
            <a:ext cx="856615" cy="635"/>
          </a:xfrm>
          <a:prstGeom prst="straightConnector1">
            <a:avLst/>
          </a:prstGeom>
          <a:noFill/>
          <a:ln w="15875" cap="flat" cmpd="sng" algn="ctr">
            <a:solidFill>
              <a:srgbClr val="249087"/>
            </a:solidFill>
            <a:prstDash val="solid"/>
            <a:miter lim="800000"/>
            <a:tailEnd type="triangle"/>
          </a:ln>
          <a:effectLst/>
        </p:spPr>
      </p:cxnSp>
      <p:cxnSp>
        <p:nvCxnSpPr>
          <p:cNvPr id="334" name="直接箭头连接符 333"/>
          <p:cNvCxnSpPr>
            <a:stCxn id="324" idx="2"/>
            <a:endCxn id="331" idx="0"/>
          </p:cNvCxnSpPr>
          <p:nvPr/>
        </p:nvCxnSpPr>
        <p:spPr>
          <a:xfrm>
            <a:off x="1602105" y="4554855"/>
            <a:ext cx="0" cy="553720"/>
          </a:xfrm>
          <a:prstGeom prst="straightConnector1">
            <a:avLst/>
          </a:prstGeom>
          <a:noFill/>
          <a:ln w="15875" cap="flat" cmpd="sng" algn="ctr">
            <a:solidFill>
              <a:srgbClr val="249087"/>
            </a:solidFill>
            <a:prstDash val="solid"/>
            <a:miter lim="800000"/>
            <a:tailEnd type="triangle"/>
          </a:ln>
          <a:effectLst/>
        </p:spPr>
      </p:cxnSp>
      <p:cxnSp>
        <p:nvCxnSpPr>
          <p:cNvPr id="335" name="连接符: 肘形 334"/>
          <p:cNvCxnSpPr>
            <a:stCxn id="330" idx="3"/>
            <a:endCxn id="322" idx="1"/>
          </p:cNvCxnSpPr>
          <p:nvPr/>
        </p:nvCxnSpPr>
        <p:spPr>
          <a:xfrm flipV="1">
            <a:off x="5869940" y="3545840"/>
            <a:ext cx="976630" cy="197485"/>
          </a:xfrm>
          <a:prstGeom prst="bentConnector3">
            <a:avLst>
              <a:gd name="adj1" fmla="val 50000"/>
            </a:avLst>
          </a:prstGeom>
          <a:noFill/>
          <a:ln w="15875" cap="flat" cmpd="sng" algn="ctr">
            <a:solidFill>
              <a:srgbClr val="249087"/>
            </a:solidFill>
            <a:prstDash val="solid"/>
            <a:miter lim="800000"/>
            <a:tailEnd type="triangle"/>
          </a:ln>
          <a:effectLst/>
        </p:spPr>
      </p:cxnSp>
      <p:cxnSp>
        <p:nvCxnSpPr>
          <p:cNvPr id="336" name="连接符: 肘形 335"/>
          <p:cNvCxnSpPr>
            <a:stCxn id="330" idx="1"/>
            <a:endCxn id="326" idx="1"/>
          </p:cNvCxnSpPr>
          <p:nvPr/>
        </p:nvCxnSpPr>
        <p:spPr>
          <a:xfrm rot="10800000" flipH="1">
            <a:off x="4789805" y="3382010"/>
            <a:ext cx="635" cy="361315"/>
          </a:xfrm>
          <a:prstGeom prst="bentConnector3">
            <a:avLst>
              <a:gd name="adj1" fmla="val -51500000"/>
            </a:avLst>
          </a:prstGeom>
          <a:noFill/>
          <a:ln w="15875" cap="flat" cmpd="sng" algn="ctr">
            <a:solidFill>
              <a:srgbClr val="249087"/>
            </a:solidFill>
            <a:prstDash val="solid"/>
            <a:miter lim="800000"/>
            <a:headEnd type="triangle"/>
            <a:tailEnd type="triangle"/>
          </a:ln>
          <a:effectLst/>
        </p:spPr>
      </p:cxnSp>
      <p:sp>
        <p:nvSpPr>
          <p:cNvPr id="337" name="矩形: 圆角 336"/>
          <p:cNvSpPr/>
          <p:nvPr/>
        </p:nvSpPr>
        <p:spPr>
          <a:xfrm>
            <a:off x="2926580" y="5107940"/>
            <a:ext cx="1224000" cy="360000"/>
          </a:xfrm>
          <a:prstGeom prst="roundRect">
            <a:avLst>
              <a:gd name="adj" fmla="val 50000"/>
            </a:avLst>
          </a:prstGeom>
          <a:solidFill>
            <a:srgbClr val="30C0B4">
              <a:lumMod val="75000"/>
            </a:srgbClr>
          </a:solidFill>
          <a:ln w="12700" cap="flat" cmpd="sng" algn="ctr">
            <a:noFill/>
            <a:prstDash val="solid"/>
            <a:miter lim="800000"/>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存储评价报告文件</a:t>
            </a:r>
          </a:p>
        </p:txBody>
      </p:sp>
      <p:cxnSp>
        <p:nvCxnSpPr>
          <p:cNvPr id="338" name="直接箭头连接符 337"/>
          <p:cNvCxnSpPr/>
          <p:nvPr/>
        </p:nvCxnSpPr>
        <p:spPr>
          <a:xfrm>
            <a:off x="2141855" y="5288280"/>
            <a:ext cx="784860" cy="0"/>
          </a:xfrm>
          <a:prstGeom prst="straightConnector1">
            <a:avLst/>
          </a:prstGeom>
          <a:noFill/>
          <a:ln w="15875" cap="flat" cmpd="sng" algn="ctr">
            <a:solidFill>
              <a:srgbClr val="249087"/>
            </a:solidFill>
            <a:prstDash val="solid"/>
            <a:miter lim="800000"/>
            <a:tailEnd type="triangle"/>
          </a:ln>
          <a:effectLst/>
        </p:spPr>
      </p:cxnSp>
      <p:sp>
        <p:nvSpPr>
          <p:cNvPr id="339" name="文本框 338"/>
          <p:cNvSpPr txBox="1"/>
          <p:nvPr/>
        </p:nvSpPr>
        <p:spPr>
          <a:xfrm>
            <a:off x="2150110" y="3358515"/>
            <a:ext cx="457200" cy="138430"/>
          </a:xfrm>
          <a:prstGeom prst="rect">
            <a:avLst/>
          </a:prstGeom>
          <a:noFill/>
        </p:spPr>
        <p:txBody>
          <a:bodyPr wrap="none" lIns="0" tIns="0" rIns="0" bIns="0" rtlCol="0">
            <a:spAutoFit/>
          </a:bodyPr>
          <a:lstStyle/>
          <a:p>
            <a:pPr algn="ctr"/>
            <a:r>
              <a:rPr lang="zh-CN" altLang="en-US" sz="900" dirty="0">
                <a:solidFill>
                  <a:srgbClr val="006D50"/>
                </a:solidFill>
                <a:latin typeface="微软雅黑" panose="020B0503020204020204" charset="-122"/>
              </a:rPr>
              <a:t>用户上传</a:t>
            </a:r>
          </a:p>
        </p:txBody>
      </p:sp>
      <p:sp>
        <p:nvSpPr>
          <p:cNvPr id="340" name="矩形 339"/>
          <p:cNvSpPr/>
          <p:nvPr/>
        </p:nvSpPr>
        <p:spPr>
          <a:xfrm>
            <a:off x="8571865" y="2709545"/>
            <a:ext cx="3202940" cy="1219200"/>
          </a:xfrm>
          <a:prstGeom prst="rect">
            <a:avLst/>
          </a:prstGeom>
          <a:solidFill>
            <a:srgbClr val="FFF2CA"/>
          </a:solidFill>
          <a:ln w="15875" cap="flat" cmpd="sng" algn="ctr">
            <a:solidFill>
              <a:srgbClr val="30C0B4">
                <a:lumMod val="75000"/>
              </a:srgbClr>
            </a:solidFill>
            <a:prstDash val="solid"/>
            <a:miter lim="800000"/>
          </a:ln>
          <a:effectLst>
            <a:reflection endPos="0" dir="5400000" sy="-100000" algn="bl" rotWithShape="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341" name="矩形 340"/>
          <p:cNvSpPr/>
          <p:nvPr/>
        </p:nvSpPr>
        <p:spPr>
          <a:xfrm>
            <a:off x="8671560" y="3074035"/>
            <a:ext cx="3004185" cy="762000"/>
          </a:xfrm>
          <a:prstGeom prst="rect">
            <a:avLst/>
          </a:prstGeom>
          <a:solidFill>
            <a:srgbClr val="30C0B4">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cs"/>
            </a:endParaRPr>
          </a:p>
        </p:txBody>
      </p:sp>
      <p:sp>
        <p:nvSpPr>
          <p:cNvPr id="342" name="文本框 341"/>
          <p:cNvSpPr txBox="1"/>
          <p:nvPr/>
        </p:nvSpPr>
        <p:spPr>
          <a:xfrm>
            <a:off x="9816465" y="2817495"/>
            <a:ext cx="713740" cy="215265"/>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30C0B4">
                    <a:lumMod val="75000"/>
                  </a:srgbClr>
                </a:solidFill>
                <a:effectLst/>
                <a:uLnTx/>
                <a:uFillTx/>
              </a:rPr>
              <a:t>业务系统</a:t>
            </a:r>
          </a:p>
        </p:txBody>
      </p:sp>
      <p:sp>
        <p:nvSpPr>
          <p:cNvPr id="343" name="文本框 342"/>
          <p:cNvSpPr txBox="1"/>
          <p:nvPr/>
        </p:nvSpPr>
        <p:spPr>
          <a:xfrm>
            <a:off x="8750300" y="3149918"/>
            <a:ext cx="1367790" cy="610235"/>
          </a:xfrm>
          <a:prstGeom prst="rect">
            <a:avLst/>
          </a:prstGeom>
          <a:noFill/>
          <a:ln>
            <a:solidFill>
              <a:sysClr val="window" lastClr="FFFFFF"/>
            </a:solidFill>
          </a:ln>
        </p:spPr>
        <p:txBody>
          <a:bodyPr wrap="square" lIns="46990" tIns="17780" rIns="46990" bIns="46990" rtlCol="0">
            <a:noAutofit/>
          </a:bodyPr>
          <a:lstStyle/>
          <a:p>
            <a:pPr marL="0" marR="0" lvl="0" indent="0" algn="ctr" defTabSz="914400" eaLnBrk="1" fontAlgn="auto" latinLnBrk="0" hangingPunct="1">
              <a:lnSpc>
                <a:spcPct val="14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rPr>
              <a:t>网上电网</a:t>
            </a:r>
          </a:p>
          <a:p>
            <a:pPr marL="0" marR="0" lvl="0" indent="0" algn="ctr" defTabSz="914400" eaLnBrk="1" fontAlgn="auto" latinLnBrk="0" hangingPunct="1">
              <a:lnSpc>
                <a:spcPct val="140000"/>
              </a:lnSpc>
              <a:spcBef>
                <a:spcPts val="0"/>
              </a:spcBef>
              <a:spcAft>
                <a:spcPts val="0"/>
              </a:spcAft>
              <a:buClrTx/>
              <a:buSzTx/>
              <a:buFontTx/>
              <a:buNone/>
              <a:defRPr/>
            </a:pPr>
            <a:r>
              <a:rPr kumimoji="0" lang="zh-CN" altLang="en-US" sz="700" b="0" i="0" u="none" strike="noStrike" kern="0" cap="none" spc="0" normalizeH="0" baseline="0" noProof="0" dirty="0">
                <a:ln>
                  <a:noFill/>
                </a:ln>
                <a:solidFill>
                  <a:prstClr val="white"/>
                </a:solidFill>
                <a:effectLst/>
                <a:uLnTx/>
                <a:uFillTx/>
                <a:latin typeface="微软雅黑" panose="020B0503020204020204" charset="-122"/>
              </a:rPr>
              <a:t>查询变电站映射关系及最大负载、平均负载、投产年份、容载率等</a:t>
            </a:r>
            <a:endParaRPr kumimoji="0" lang="zh-CN" altLang="en-US" sz="700" b="0" i="0" u="none" strike="noStrike" kern="0" cap="none" spc="0" normalizeH="0" baseline="0" noProof="0" dirty="0">
              <a:ln>
                <a:noFill/>
              </a:ln>
              <a:solidFill>
                <a:prstClr val="white"/>
              </a:solidFill>
              <a:effectLst/>
              <a:uLnTx/>
              <a:uFillTx/>
              <a:latin typeface="微软雅黑" panose="020B0503020204020204" charset="-122"/>
              <a:sym typeface="+mn-ea"/>
            </a:endParaRPr>
          </a:p>
        </p:txBody>
      </p:sp>
      <p:cxnSp>
        <p:nvCxnSpPr>
          <p:cNvPr id="344" name="直接箭头连接符 343"/>
          <p:cNvCxnSpPr>
            <a:stCxn id="322" idx="2"/>
            <a:endCxn id="327" idx="0"/>
          </p:cNvCxnSpPr>
          <p:nvPr/>
        </p:nvCxnSpPr>
        <p:spPr>
          <a:xfrm flipH="1">
            <a:off x="7385685" y="3725545"/>
            <a:ext cx="635" cy="469265"/>
          </a:xfrm>
          <a:prstGeom prst="straightConnector1">
            <a:avLst/>
          </a:prstGeom>
          <a:noFill/>
          <a:ln w="15875" cap="flat" cmpd="sng" algn="ctr">
            <a:solidFill>
              <a:srgbClr val="E54C5E">
                <a:lumMod val="75000"/>
              </a:srgbClr>
            </a:solidFill>
            <a:prstDash val="solid"/>
            <a:miter lim="800000"/>
            <a:tailEnd type="triangle"/>
          </a:ln>
          <a:effectLst/>
        </p:spPr>
      </p:cxnSp>
      <p:cxnSp>
        <p:nvCxnSpPr>
          <p:cNvPr id="345" name="直接箭头连接符 344"/>
          <p:cNvCxnSpPr>
            <a:stCxn id="327" idx="1"/>
            <a:endCxn id="323" idx="3"/>
          </p:cNvCxnSpPr>
          <p:nvPr/>
        </p:nvCxnSpPr>
        <p:spPr>
          <a:xfrm flipH="1">
            <a:off x="5869940" y="4375150"/>
            <a:ext cx="975360" cy="0"/>
          </a:xfrm>
          <a:prstGeom prst="straightConnector1">
            <a:avLst/>
          </a:prstGeom>
          <a:noFill/>
          <a:ln w="15875" cap="flat" cmpd="sng" algn="ctr">
            <a:solidFill>
              <a:srgbClr val="30C0B4">
                <a:lumMod val="75000"/>
              </a:srgbClr>
            </a:solidFill>
            <a:prstDash val="solid"/>
            <a:miter lim="800000"/>
            <a:tailEnd type="triangle"/>
          </a:ln>
          <a:effectLst/>
        </p:spPr>
      </p:cxnSp>
      <p:cxnSp>
        <p:nvCxnSpPr>
          <p:cNvPr id="346" name="直接箭头连接符 345"/>
          <p:cNvCxnSpPr/>
          <p:nvPr/>
        </p:nvCxnSpPr>
        <p:spPr>
          <a:xfrm>
            <a:off x="5330190" y="3858260"/>
            <a:ext cx="0" cy="336550"/>
          </a:xfrm>
          <a:prstGeom prst="straightConnector1">
            <a:avLst/>
          </a:prstGeom>
          <a:noFill/>
          <a:ln w="15875" cap="flat" cmpd="sng" algn="ctr">
            <a:solidFill>
              <a:srgbClr val="249087"/>
            </a:solidFill>
            <a:prstDash val="solid"/>
            <a:miter lim="800000"/>
            <a:tailEnd type="triangle"/>
          </a:ln>
          <a:effectLst/>
        </p:spPr>
      </p:cxnSp>
      <p:sp>
        <p:nvSpPr>
          <p:cNvPr id="347" name="文本框 346"/>
          <p:cNvSpPr txBox="1"/>
          <p:nvPr/>
        </p:nvSpPr>
        <p:spPr>
          <a:xfrm>
            <a:off x="4229735" y="4035425"/>
            <a:ext cx="457200" cy="276860"/>
          </a:xfrm>
          <a:prstGeom prst="rect">
            <a:avLst/>
          </a:prstGeom>
          <a:noFill/>
        </p:spPr>
        <p:txBody>
          <a:bodyPr wrap="none" lIns="0" tIns="0" rIns="0" bIns="0" rtlCol="0">
            <a:spAutoFit/>
          </a:bodyPr>
          <a:lstStyle/>
          <a:p>
            <a:pPr algn="ctr"/>
            <a:r>
              <a:rPr lang="zh-CN" altLang="en-US" sz="900" dirty="0">
                <a:solidFill>
                  <a:srgbClr val="006D50"/>
                </a:solidFill>
                <a:latin typeface="微软雅黑" panose="020B0503020204020204" charset="-122"/>
              </a:rPr>
              <a:t>对比分析</a:t>
            </a:r>
          </a:p>
          <a:p>
            <a:pPr algn="ctr"/>
            <a:r>
              <a:rPr lang="zh-CN" altLang="en-US" sz="900" dirty="0">
                <a:solidFill>
                  <a:srgbClr val="006D50"/>
                </a:solidFill>
                <a:latin typeface="微软雅黑" panose="020B0503020204020204" charset="-122"/>
              </a:rPr>
              <a:t>得出结论</a:t>
            </a:r>
          </a:p>
        </p:txBody>
      </p:sp>
      <p:sp>
        <p:nvSpPr>
          <p:cNvPr id="348" name="文本框 347"/>
          <p:cNvSpPr txBox="1"/>
          <p:nvPr/>
        </p:nvSpPr>
        <p:spPr>
          <a:xfrm>
            <a:off x="1019810" y="4692650"/>
            <a:ext cx="457200" cy="276860"/>
          </a:xfrm>
          <a:prstGeom prst="rect">
            <a:avLst/>
          </a:prstGeom>
          <a:noFill/>
        </p:spPr>
        <p:txBody>
          <a:bodyPr vert="horz" wrap="none" lIns="0" tIns="0" rIns="0" bIns="0" rtlCol="0">
            <a:spAutoFit/>
          </a:bodyPr>
          <a:lstStyle/>
          <a:p>
            <a:pPr algn="ctr"/>
            <a:r>
              <a:rPr lang="zh-CN" altLang="en-US" sz="900" dirty="0">
                <a:solidFill>
                  <a:srgbClr val="006D50"/>
                </a:solidFill>
                <a:latin typeface="微软雅黑" panose="020B0503020204020204" charset="-122"/>
              </a:rPr>
              <a:t>模版</a:t>
            </a:r>
          </a:p>
          <a:p>
            <a:pPr algn="ctr"/>
            <a:r>
              <a:rPr lang="zh-CN" altLang="en-US" sz="900" dirty="0">
                <a:solidFill>
                  <a:srgbClr val="006D50"/>
                </a:solidFill>
                <a:latin typeface="微软雅黑" panose="020B0503020204020204" charset="-122"/>
              </a:rPr>
              <a:t>生成文件</a:t>
            </a:r>
          </a:p>
        </p:txBody>
      </p:sp>
      <p:sp>
        <p:nvSpPr>
          <p:cNvPr id="349" name="矩形: 圆角 348"/>
          <p:cNvSpPr/>
          <p:nvPr/>
        </p:nvSpPr>
        <p:spPr>
          <a:xfrm>
            <a:off x="4790940" y="5107940"/>
            <a:ext cx="1079500" cy="360000"/>
          </a:xfrm>
          <a:prstGeom prst="roundRect">
            <a:avLst>
              <a:gd name="adj" fmla="val 50000"/>
            </a:avLst>
          </a:prstGeom>
          <a:solidFill>
            <a:srgbClr val="30C0B4">
              <a:lumMod val="75000"/>
            </a:srgbClr>
          </a:solidFill>
          <a:ln w="12700" cap="flat" cmpd="sng" algn="ctr">
            <a:noFill/>
            <a:prstDash val="solid"/>
            <a:miter lim="800000"/>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存储评价结论</a:t>
            </a:r>
          </a:p>
        </p:txBody>
      </p:sp>
      <p:sp>
        <p:nvSpPr>
          <p:cNvPr id="350" name="圆柱体 349"/>
          <p:cNvSpPr/>
          <p:nvPr/>
        </p:nvSpPr>
        <p:spPr>
          <a:xfrm>
            <a:off x="8728710" y="6116320"/>
            <a:ext cx="1332230" cy="554355"/>
          </a:xfrm>
          <a:prstGeom prst="can">
            <a:avLst>
              <a:gd name="adj" fmla="val 38333"/>
            </a:avLst>
          </a:prstGeom>
          <a:solidFill>
            <a:srgbClr val="00837F"/>
          </a:solidFill>
          <a:ln w="22225" cap="flat" cmpd="sng" algn="ctr">
            <a:solidFill>
              <a:srgbClr val="FFF2CA"/>
            </a:solidFill>
            <a:prstDash val="solid"/>
            <a:miter lim="800000"/>
          </a:ln>
          <a:effectLst/>
        </p:spPr>
        <p:txBody>
          <a:bodyPr tIns="71755" bIns="0" rtlCol="0" anchor="ctr"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OSS</a:t>
            </a:r>
            <a:r>
              <a:rPr kumimoji="0" lang="zh-CN" altLang="en-US" sz="10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非结构化存储</a:t>
            </a:r>
          </a:p>
        </p:txBody>
      </p:sp>
      <p:sp>
        <p:nvSpPr>
          <p:cNvPr id="351" name="圆柱体 350"/>
          <p:cNvSpPr/>
          <p:nvPr/>
        </p:nvSpPr>
        <p:spPr>
          <a:xfrm>
            <a:off x="10278745" y="6116320"/>
            <a:ext cx="1332230" cy="554355"/>
          </a:xfrm>
          <a:prstGeom prst="can">
            <a:avLst>
              <a:gd name="adj" fmla="val 35000"/>
            </a:avLst>
          </a:prstGeom>
          <a:solidFill>
            <a:srgbClr val="00837F"/>
          </a:solidFill>
          <a:ln w="22225" cap="flat" cmpd="sng" algn="ctr">
            <a:solidFill>
              <a:srgbClr val="FFF2CA"/>
            </a:solidFill>
            <a:prstDash val="solid"/>
            <a:miter lim="800000"/>
          </a:ln>
          <a:effectLst/>
        </p:spPr>
        <p:txBody>
          <a:bodyPr lIns="0" tIns="71755" rIns="0" bIns="0" rtlCol="0" anchor="ctr"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业务数据结构化存储</a:t>
            </a:r>
          </a:p>
        </p:txBody>
      </p:sp>
      <p:sp>
        <p:nvSpPr>
          <p:cNvPr id="352" name="文本框 351"/>
          <p:cNvSpPr txBox="1"/>
          <p:nvPr/>
        </p:nvSpPr>
        <p:spPr>
          <a:xfrm>
            <a:off x="3624580" y="5640705"/>
            <a:ext cx="685800" cy="138430"/>
          </a:xfrm>
          <a:prstGeom prst="rect">
            <a:avLst/>
          </a:prstGeom>
          <a:noFill/>
          <a:ln>
            <a:noFill/>
          </a:ln>
        </p:spPr>
        <p:txBody>
          <a:bodyPr vert="horz" wrap="none" lIns="0" tIns="0" rIns="0" bIns="0" rtlCol="0">
            <a:spAutoFit/>
          </a:bodyPr>
          <a:lstStyle/>
          <a:p>
            <a:r>
              <a:rPr lang="zh-CN" altLang="en-US" sz="900" dirty="0">
                <a:solidFill>
                  <a:srgbClr val="F2BA02">
                    <a:lumMod val="50000"/>
                  </a:srgbClr>
                </a:solidFill>
                <a:latin typeface="微软雅黑" panose="020B0503020204020204" charset="-122"/>
              </a:rPr>
              <a:t>非结构化存储</a:t>
            </a:r>
          </a:p>
        </p:txBody>
      </p:sp>
      <p:sp>
        <p:nvSpPr>
          <p:cNvPr id="353" name="文本框 352"/>
          <p:cNvSpPr txBox="1"/>
          <p:nvPr/>
        </p:nvSpPr>
        <p:spPr>
          <a:xfrm>
            <a:off x="6173470" y="3888105"/>
            <a:ext cx="138430" cy="838200"/>
          </a:xfrm>
          <a:prstGeom prst="rect">
            <a:avLst/>
          </a:prstGeom>
          <a:noFill/>
        </p:spPr>
        <p:txBody>
          <a:bodyPr vert="eaVert" wrap="none" lIns="0" tIns="0" rIns="0" bIns="0" rtlCol="0">
            <a:spAutoFit/>
          </a:bodyPr>
          <a:lstStyle/>
          <a:p>
            <a:pPr algn="ctr"/>
            <a:r>
              <a:rPr lang="zh-CN" altLang="en-US" sz="900" spc="200" dirty="0">
                <a:solidFill>
                  <a:srgbClr val="F2BA02">
                    <a:lumMod val="50000"/>
                  </a:srgbClr>
                </a:solidFill>
                <a:latin typeface="微软雅黑" panose="020B0503020204020204" charset="-122"/>
              </a:rPr>
              <a:t>非结构化存储</a:t>
            </a:r>
          </a:p>
        </p:txBody>
      </p:sp>
      <p:sp>
        <p:nvSpPr>
          <p:cNvPr id="354" name="文本框 353"/>
          <p:cNvSpPr txBox="1"/>
          <p:nvPr/>
        </p:nvSpPr>
        <p:spPr>
          <a:xfrm>
            <a:off x="5377180" y="5640705"/>
            <a:ext cx="596900" cy="138430"/>
          </a:xfrm>
          <a:prstGeom prst="rect">
            <a:avLst/>
          </a:prstGeom>
          <a:noFill/>
        </p:spPr>
        <p:txBody>
          <a:bodyPr vert="horz" wrap="none" lIns="0" tIns="0" rIns="0" bIns="0" rtlCol="0">
            <a:spAutoFit/>
          </a:bodyPr>
          <a:lstStyle/>
          <a:p>
            <a:r>
              <a:rPr lang="zh-CN" altLang="en-US" sz="900" dirty="0">
                <a:solidFill>
                  <a:srgbClr val="F2BA02">
                    <a:lumMod val="50000"/>
                  </a:srgbClr>
                </a:solidFill>
                <a:latin typeface="微软雅黑" panose="020B0503020204020204" charset="-122"/>
              </a:rPr>
              <a:t>结构化存</a:t>
            </a:r>
            <a:r>
              <a:rPr lang="zh-CN" altLang="en-US" sz="900" spc="200" dirty="0">
                <a:solidFill>
                  <a:srgbClr val="F2BA02">
                    <a:lumMod val="50000"/>
                  </a:srgbClr>
                </a:solidFill>
                <a:latin typeface="微软雅黑" panose="020B0503020204020204" charset="-122"/>
              </a:rPr>
              <a:t>储</a:t>
            </a:r>
          </a:p>
        </p:txBody>
      </p:sp>
      <p:cxnSp>
        <p:nvCxnSpPr>
          <p:cNvPr id="355" name="连接符: 肘形 354"/>
          <p:cNvCxnSpPr>
            <a:stCxn id="366" idx="2"/>
            <a:endCxn id="371" idx="0"/>
          </p:cNvCxnSpPr>
          <p:nvPr/>
        </p:nvCxnSpPr>
        <p:spPr>
          <a:xfrm rot="5400000" flipV="1">
            <a:off x="9539923" y="5337493"/>
            <a:ext cx="201295" cy="1066800"/>
          </a:xfrm>
          <a:prstGeom prst="bentConnector3">
            <a:avLst>
              <a:gd name="adj1" fmla="val 50000"/>
            </a:avLst>
          </a:prstGeom>
          <a:noFill/>
          <a:ln w="15875" cap="flat" cmpd="sng" algn="ctr">
            <a:solidFill>
              <a:srgbClr val="004D38"/>
            </a:solidFill>
            <a:prstDash val="solid"/>
            <a:miter lim="800000"/>
            <a:tailEnd type="none"/>
          </a:ln>
          <a:effectLst/>
        </p:spPr>
      </p:cxnSp>
      <p:cxnSp>
        <p:nvCxnSpPr>
          <p:cNvPr id="356" name="连接符: 肘形 355"/>
          <p:cNvCxnSpPr/>
          <p:nvPr/>
        </p:nvCxnSpPr>
        <p:spPr>
          <a:xfrm rot="16200000" flipH="1">
            <a:off x="10169525" y="5471795"/>
            <a:ext cx="3175" cy="1550035"/>
          </a:xfrm>
          <a:prstGeom prst="bentConnector3">
            <a:avLst>
              <a:gd name="adj1" fmla="val -7460000"/>
            </a:avLst>
          </a:prstGeom>
          <a:noFill/>
          <a:ln w="15875" cap="flat" cmpd="sng" algn="ctr">
            <a:solidFill>
              <a:srgbClr val="004D38"/>
            </a:solidFill>
            <a:prstDash val="solid"/>
            <a:miter lim="800000"/>
            <a:headEnd type="triangle"/>
            <a:tailEnd type="triangle"/>
          </a:ln>
          <a:effectLst/>
        </p:spPr>
      </p:cxnSp>
      <p:sp>
        <p:nvSpPr>
          <p:cNvPr id="357" name="文本框 356"/>
          <p:cNvSpPr txBox="1"/>
          <p:nvPr/>
        </p:nvSpPr>
        <p:spPr>
          <a:xfrm>
            <a:off x="3709670" y="2802255"/>
            <a:ext cx="1286510" cy="245745"/>
          </a:xfrm>
          <a:prstGeom prst="rect">
            <a:avLst/>
          </a:prstGeom>
          <a:noFill/>
        </p:spPr>
        <p:txBody>
          <a:bodyPr wrap="none" lIns="0" tIns="0" rIns="0" bIns="0" rtlCol="0">
            <a:spAutoFit/>
          </a:bodyPr>
          <a:lstStyle/>
          <a:p>
            <a:r>
              <a:rPr lang="zh-CN" altLang="en-US" sz="1600" b="1" spc="100" dirty="0">
                <a:solidFill>
                  <a:srgbClr val="30C0B4">
                    <a:lumMod val="75000"/>
                  </a:srgbClr>
                </a:solidFill>
                <a:latin typeface="微软雅黑" panose="020B0503020204020204" charset="-122"/>
              </a:rPr>
              <a:t>人工智能平</a:t>
            </a:r>
            <a:r>
              <a:rPr lang="zh-CN" altLang="en-US" sz="1600" b="1" dirty="0">
                <a:solidFill>
                  <a:srgbClr val="30C0B4">
                    <a:lumMod val="75000"/>
                  </a:srgbClr>
                </a:solidFill>
                <a:latin typeface="微软雅黑" panose="020B0503020204020204" charset="-122"/>
              </a:rPr>
              <a:t>台</a:t>
            </a:r>
          </a:p>
        </p:txBody>
      </p:sp>
      <p:sp>
        <p:nvSpPr>
          <p:cNvPr id="358" name="文本框 357"/>
          <p:cNvSpPr txBox="1"/>
          <p:nvPr/>
        </p:nvSpPr>
        <p:spPr>
          <a:xfrm>
            <a:off x="9334183" y="4178300"/>
            <a:ext cx="1678305" cy="215265"/>
          </a:xfrm>
          <a:prstGeom prst="rect">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30C0B4">
                    <a:lumMod val="75000"/>
                  </a:srgbClr>
                </a:solidFill>
                <a:effectLst/>
                <a:uLnTx/>
                <a:uFillTx/>
              </a:rPr>
              <a:t>业务平台-数字化看板</a:t>
            </a:r>
          </a:p>
        </p:txBody>
      </p:sp>
      <p:sp>
        <p:nvSpPr>
          <p:cNvPr id="359" name="文本框 358"/>
          <p:cNvSpPr txBox="1"/>
          <p:nvPr/>
        </p:nvSpPr>
        <p:spPr>
          <a:xfrm>
            <a:off x="669925" y="5979160"/>
            <a:ext cx="7112000" cy="730885"/>
          </a:xfrm>
          <a:prstGeom prst="rect">
            <a:avLst/>
          </a:prstGeom>
          <a:noFill/>
        </p:spPr>
        <p:txBody>
          <a:bodyPr wrap="none" lIns="0" tIns="0" rIns="0" bIns="0" rtlCol="0">
            <a:spAutoFit/>
          </a:bodyPr>
          <a:lstStyle/>
          <a:p>
            <a:pPr>
              <a:spcAft>
                <a:spcPts val="300"/>
              </a:spcAft>
            </a:pPr>
            <a:r>
              <a:rPr lang="zh-CN" altLang="en-US" sz="1000" dirty="0">
                <a:solidFill>
                  <a:srgbClr val="C00000"/>
                </a:solidFill>
                <a:latin typeface="微软雅黑" panose="020B0503020204020204" charset="-122"/>
                <a:cs typeface="微软雅黑" panose="020B0503020204020204" charset="-122"/>
              </a:rPr>
              <a:t>场景名称：电网</a:t>
            </a:r>
            <a:r>
              <a:rPr lang="en-US" altLang="zh-CN" sz="1000" dirty="0">
                <a:solidFill>
                  <a:srgbClr val="C00000"/>
                </a:solidFill>
                <a:latin typeface="微软雅黑" panose="020B0503020204020204" charset="-122"/>
                <a:cs typeface="微软雅黑" panose="020B0503020204020204" charset="-122"/>
              </a:rPr>
              <a:t>35KV</a:t>
            </a:r>
            <a:r>
              <a:rPr lang="zh-CN" altLang="en-US" sz="1000" dirty="0">
                <a:solidFill>
                  <a:srgbClr val="C00000"/>
                </a:solidFill>
                <a:latin typeface="微软雅黑" panose="020B0503020204020204" charset="-122"/>
                <a:cs typeface="微软雅黑" panose="020B0503020204020204" charset="-122"/>
              </a:rPr>
              <a:t>及以上投产项目投资问效</a:t>
            </a:r>
            <a:endParaRPr lang="en-US" altLang="zh-CN" sz="1000" dirty="0">
              <a:solidFill>
                <a:srgbClr val="C00000"/>
              </a:solidFill>
              <a:latin typeface="微软雅黑" panose="020B0503020204020204" charset="-122"/>
              <a:cs typeface="微软雅黑" panose="020B0503020204020204" charset="-122"/>
            </a:endParaRPr>
          </a:p>
          <a:p>
            <a:pPr>
              <a:spcAft>
                <a:spcPts val="300"/>
              </a:spcAft>
            </a:pPr>
            <a:r>
              <a:rPr lang="zh-CN" altLang="en-US" sz="1000" dirty="0">
                <a:solidFill>
                  <a:srgbClr val="C00000"/>
                </a:solidFill>
                <a:latin typeface="微软雅黑" panose="020B0503020204020204" charset="-122"/>
                <a:cs typeface="微软雅黑" panose="020B0503020204020204" charset="-122"/>
              </a:rPr>
              <a:t>内容：基于投产项目可研报告和生产数据进行项目投产评价</a:t>
            </a:r>
            <a:endParaRPr lang="en-US" altLang="zh-CN" sz="1000" dirty="0">
              <a:solidFill>
                <a:srgbClr val="C00000"/>
              </a:solidFill>
              <a:latin typeface="微软雅黑" panose="020B0503020204020204" charset="-122"/>
              <a:cs typeface="微软雅黑" panose="020B0503020204020204" charset="-122"/>
            </a:endParaRPr>
          </a:p>
          <a:p>
            <a:pPr>
              <a:spcAft>
                <a:spcPts val="300"/>
              </a:spcAft>
            </a:pPr>
            <a:r>
              <a:rPr lang="zh-CN" altLang="en-US" sz="1000" dirty="0">
                <a:solidFill>
                  <a:srgbClr val="C00000"/>
                </a:solidFill>
                <a:latin typeface="微软雅黑" panose="020B0503020204020204" charset="-122"/>
                <a:cs typeface="微软雅黑" panose="020B0503020204020204" charset="-122"/>
              </a:rPr>
              <a:t>简述：基于光明大模型的能力，使用人工智能技术，通过分析和对比投产项目可研报告和生产数据，对项目运行状况做出评价，</a:t>
            </a:r>
          </a:p>
          <a:p>
            <a:pPr>
              <a:spcAft>
                <a:spcPts val="300"/>
              </a:spcAft>
            </a:pPr>
            <a:r>
              <a:rPr lang="zh-CN" altLang="en-US" sz="1000" dirty="0">
                <a:solidFill>
                  <a:srgbClr val="C00000"/>
                </a:solidFill>
                <a:latin typeface="微软雅黑" panose="020B0503020204020204" charset="-122"/>
                <a:cs typeface="微软雅黑" panose="020B0503020204020204" charset="-122"/>
              </a:rPr>
              <a:t> </a:t>
            </a:r>
            <a:r>
              <a:rPr lang="en-US" altLang="zh-CN" sz="1000" dirty="0">
                <a:solidFill>
                  <a:srgbClr val="C00000"/>
                </a:solidFill>
                <a:latin typeface="微软雅黑" panose="020B0503020204020204" charset="-122"/>
                <a:cs typeface="微软雅黑" panose="020B0503020204020204" charset="-122"/>
              </a:rPr>
              <a:t>         </a:t>
            </a:r>
            <a:r>
              <a:rPr lang="zh-CN" altLang="en-US" sz="1000" dirty="0">
                <a:solidFill>
                  <a:srgbClr val="C00000"/>
                </a:solidFill>
                <a:latin typeface="微软雅黑" panose="020B0503020204020204" charset="-122"/>
                <a:cs typeface="微软雅黑" panose="020B0503020204020204" charset="-122"/>
              </a:rPr>
              <a:t>并生成评价文件</a:t>
            </a:r>
          </a:p>
        </p:txBody>
      </p:sp>
      <p:sp>
        <p:nvSpPr>
          <p:cNvPr id="360" name="文本框 359"/>
          <p:cNvSpPr txBox="1"/>
          <p:nvPr/>
        </p:nvSpPr>
        <p:spPr>
          <a:xfrm>
            <a:off x="7150418" y="4711065"/>
            <a:ext cx="138430" cy="698500"/>
          </a:xfrm>
          <a:prstGeom prst="rect">
            <a:avLst/>
          </a:prstGeom>
          <a:noFill/>
        </p:spPr>
        <p:txBody>
          <a:bodyPr vert="eaVert" wrap="none" lIns="0" tIns="0" rIns="0" bIns="0" rtlCol="0">
            <a:spAutoFit/>
          </a:bodyPr>
          <a:lstStyle/>
          <a:p>
            <a:pPr algn="ctr"/>
            <a:r>
              <a:rPr lang="zh-CN" altLang="en-US" sz="900" spc="200" dirty="0">
                <a:solidFill>
                  <a:srgbClr val="F2BA02">
                    <a:lumMod val="50000"/>
                  </a:srgbClr>
                </a:solidFill>
                <a:latin typeface="微软雅黑" panose="020B0503020204020204" charset="-122"/>
              </a:rPr>
              <a:t>结构化存储</a:t>
            </a:r>
          </a:p>
        </p:txBody>
      </p:sp>
      <p:grpSp>
        <p:nvGrpSpPr>
          <p:cNvPr id="361" name="组合 360"/>
          <p:cNvGrpSpPr/>
          <p:nvPr/>
        </p:nvGrpSpPr>
        <p:grpSpPr>
          <a:xfrm>
            <a:off x="3539490" y="3387090"/>
            <a:ext cx="2330450" cy="1726565"/>
            <a:chOff x="5574" y="4918"/>
            <a:chExt cx="3670" cy="2719"/>
          </a:xfrm>
        </p:grpSpPr>
        <p:cxnSp>
          <p:nvCxnSpPr>
            <p:cNvPr id="362" name="连接符: 肘形 361"/>
            <p:cNvCxnSpPr>
              <a:stCxn id="326" idx="3"/>
            </p:cNvCxnSpPr>
            <p:nvPr/>
          </p:nvCxnSpPr>
          <p:spPr>
            <a:xfrm flipH="1">
              <a:off x="8400" y="4918"/>
              <a:ext cx="844" cy="2276"/>
            </a:xfrm>
            <a:prstGeom prst="bentConnector4">
              <a:avLst>
                <a:gd name="adj1" fmla="val -44431"/>
                <a:gd name="adj2" fmla="val 99912"/>
              </a:avLst>
            </a:prstGeom>
            <a:noFill/>
            <a:ln w="15875" cap="flat" cmpd="sng" algn="ctr">
              <a:solidFill>
                <a:srgbClr val="F2BA02"/>
              </a:solidFill>
              <a:prstDash val="solid"/>
              <a:miter lim="800000"/>
              <a:headEnd type="none" w="med" len="med"/>
              <a:tailEnd type="oval" w="med" len="med"/>
            </a:ln>
            <a:effectLst/>
          </p:spPr>
        </p:cxnSp>
        <p:cxnSp>
          <p:nvCxnSpPr>
            <p:cNvPr id="363" name="连接符: 肘形 362"/>
            <p:cNvCxnSpPr>
              <a:stCxn id="328" idx="2"/>
              <a:endCxn id="349" idx="0"/>
            </p:cNvCxnSpPr>
            <p:nvPr/>
          </p:nvCxnSpPr>
          <p:spPr>
            <a:xfrm rot="5400000" flipV="1">
              <a:off x="6549" y="5790"/>
              <a:ext cx="871" cy="2822"/>
            </a:xfrm>
            <a:prstGeom prst="bentConnector3">
              <a:avLst>
                <a:gd name="adj1" fmla="val 50000"/>
              </a:avLst>
            </a:prstGeom>
            <a:noFill/>
            <a:ln w="15875" cap="flat" cmpd="sng" algn="ctr">
              <a:solidFill>
                <a:srgbClr val="F2BA02"/>
              </a:solidFill>
              <a:prstDash val="solid"/>
              <a:miter lim="800000"/>
              <a:headEnd type="none" w="med" len="med"/>
              <a:tailEnd type="triangle" w="med" len="med"/>
            </a:ln>
            <a:effectLst/>
          </p:spPr>
        </p:cxnSp>
      </p:grpSp>
      <p:grpSp>
        <p:nvGrpSpPr>
          <p:cNvPr id="364" name="组合 363"/>
          <p:cNvGrpSpPr/>
          <p:nvPr/>
        </p:nvGrpSpPr>
        <p:grpSpPr>
          <a:xfrm>
            <a:off x="8728710" y="4545330"/>
            <a:ext cx="2889885" cy="1224915"/>
            <a:chOff x="13809" y="6420"/>
            <a:chExt cx="4551" cy="1929"/>
          </a:xfrm>
        </p:grpSpPr>
        <p:sp>
          <p:nvSpPr>
            <p:cNvPr id="365" name="矩形 364"/>
            <p:cNvSpPr/>
            <p:nvPr/>
          </p:nvSpPr>
          <p:spPr>
            <a:xfrm>
              <a:off x="13809" y="6420"/>
              <a:ext cx="2533" cy="945"/>
            </a:xfrm>
            <a:prstGeom prst="rect">
              <a:avLst/>
            </a:prstGeom>
            <a:solidFill>
              <a:srgbClr val="AAD0CD"/>
            </a:solidFill>
            <a:ln w="9525" cap="flat" cmpd="sng" algn="ctr">
              <a:solidFill>
                <a:srgbClr val="00837F"/>
              </a:solidFill>
              <a:prstDash val="solid"/>
              <a:miter lim="800000"/>
            </a:ln>
            <a:effectLst/>
          </p:spPr>
          <p:txBody>
            <a:bodyPr lIns="46990" tIns="46990" rIns="46990" bIns="46990" rtlCol="0" anchor="ctr"/>
            <a:lstStyle/>
            <a:p>
              <a:pPr marL="0" marR="0" lvl="0" indent="0" algn="ctr" defTabSz="914400" eaLnBrk="1" fontAlgn="auto" latinLnBrk="0" hangingPunct="1">
                <a:lnSpc>
                  <a:spcPct val="14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微软雅黑" panose="020B0503020204020204" charset="-122"/>
                </a:rPr>
                <a:t>问效评价分析过程可视化</a:t>
              </a:r>
              <a:endParaRPr kumimoji="0" lang="en-US" altLang="zh-CN" sz="1000" b="0"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eaLnBrk="1" fontAlgn="auto" latinLnBrk="0" hangingPunct="1">
                <a:lnSpc>
                  <a:spcPct val="14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微软雅黑" panose="020B0503020204020204" charset="-122"/>
                </a:rPr>
                <a:t>（图表</a:t>
              </a:r>
              <a:r>
                <a:rPr kumimoji="0" lang="en-US" altLang="zh-CN" sz="900" b="0"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微软雅黑" panose="020B0503020204020204" charset="-122"/>
                </a:rPr>
                <a:t>文本）</a:t>
              </a:r>
            </a:p>
          </p:txBody>
        </p:sp>
        <p:sp>
          <p:nvSpPr>
            <p:cNvPr id="366" name="矩形 365"/>
            <p:cNvSpPr/>
            <p:nvPr/>
          </p:nvSpPr>
          <p:spPr>
            <a:xfrm>
              <a:off x="13809" y="7503"/>
              <a:ext cx="1191" cy="846"/>
            </a:xfrm>
            <a:prstGeom prst="rect">
              <a:avLst/>
            </a:prstGeom>
            <a:solidFill>
              <a:srgbClr val="AAD0CD"/>
            </a:solidFill>
            <a:ln w="9525" cap="flat" cmpd="sng" algn="ctr">
              <a:solidFill>
                <a:srgbClr val="00837F"/>
              </a:solidFill>
              <a:prstDash val="solid"/>
              <a:miter lim="800000"/>
            </a:ln>
            <a:effectLst/>
          </p:spPr>
          <p:txBody>
            <a:bodyPr lIns="46990" tIns="46990" rIns="46990" bIns="46990" rtlCol="0"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mn-cs"/>
                </a:rPr>
                <a:t>业务服务</a:t>
              </a: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mn-cs"/>
                </a:rPr>
                <a:t>开放接口</a:t>
              </a:r>
            </a:p>
          </p:txBody>
        </p:sp>
        <p:sp>
          <p:nvSpPr>
            <p:cNvPr id="367" name="矩形 366"/>
            <p:cNvSpPr/>
            <p:nvPr/>
          </p:nvSpPr>
          <p:spPr>
            <a:xfrm>
              <a:off x="15151" y="7503"/>
              <a:ext cx="1191" cy="846"/>
            </a:xfrm>
            <a:prstGeom prst="rect">
              <a:avLst/>
            </a:prstGeom>
            <a:solidFill>
              <a:srgbClr val="AAD0CD"/>
            </a:solidFill>
            <a:ln w="9525" cap="flat" cmpd="sng" algn="ctr">
              <a:solidFill>
                <a:srgbClr val="00837F"/>
              </a:solidFill>
              <a:prstDash val="solid"/>
              <a:miter lim="800000"/>
            </a:ln>
            <a:effectLst/>
          </p:spPr>
          <p:txBody>
            <a:bodyPr lIns="46990" tIns="46990" rIns="46990" bIns="46990" rtlCol="0"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mn-cs"/>
                </a:rPr>
                <a:t>历史</a:t>
              </a:r>
              <a:endParaRPr kumimoji="0" lang="en-US" altLang="zh-CN" sz="1000" b="1"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mn-cs"/>
                </a:rPr>
                <a:t>记录</a:t>
              </a:r>
            </a:p>
          </p:txBody>
        </p:sp>
        <p:pic>
          <p:nvPicPr>
            <p:cNvPr id="368" name="图片 367"/>
            <p:cNvPicPr>
              <a:picLocks noChangeAspect="1"/>
            </p:cNvPicPr>
            <p:nvPr/>
          </p:nvPicPr>
          <p:blipFill>
            <a:blip r:embed="rId5"/>
            <a:stretch>
              <a:fillRect/>
            </a:stretch>
          </p:blipFill>
          <p:spPr>
            <a:xfrm>
              <a:off x="16559" y="6947"/>
              <a:ext cx="1801" cy="1386"/>
            </a:xfrm>
            <a:prstGeom prst="rect">
              <a:avLst/>
            </a:prstGeom>
            <a:ln>
              <a:solidFill>
                <a:srgbClr val="00837F"/>
              </a:solidFill>
            </a:ln>
          </p:spPr>
        </p:pic>
        <p:sp>
          <p:nvSpPr>
            <p:cNvPr id="369" name="矩形 368"/>
            <p:cNvSpPr/>
            <p:nvPr/>
          </p:nvSpPr>
          <p:spPr>
            <a:xfrm>
              <a:off x="16558" y="6420"/>
              <a:ext cx="1801" cy="527"/>
            </a:xfrm>
            <a:prstGeom prst="rect">
              <a:avLst/>
            </a:prstGeom>
            <a:solidFill>
              <a:srgbClr val="AAD0CD"/>
            </a:solidFill>
            <a:ln w="9525" cap="flat" cmpd="sng" algn="ctr">
              <a:solidFill>
                <a:srgbClr val="00837F"/>
              </a:solidFill>
              <a:prstDash val="solid"/>
              <a:miter lim="800000"/>
            </a:ln>
            <a:effectLst/>
          </p:spPr>
          <p:txBody>
            <a:bodyPr lIns="46990" tIns="46990" rIns="46990" bIns="4699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004D38"/>
                  </a:solidFill>
                  <a:effectLst/>
                  <a:uLnTx/>
                  <a:uFillTx/>
                  <a:latin typeface="微软雅黑" panose="020B0503020204020204" charset="-122"/>
                  <a:ea typeface="微软雅黑" panose="020B0503020204020204" charset="-122"/>
                  <a:cs typeface="+mn-cs"/>
                </a:rPr>
                <a:t>评价报告</a:t>
              </a:r>
            </a:p>
          </p:txBody>
        </p:sp>
      </p:grpSp>
      <p:cxnSp>
        <p:nvCxnSpPr>
          <p:cNvPr id="370" name="直接箭头连接符 369"/>
          <p:cNvCxnSpPr/>
          <p:nvPr/>
        </p:nvCxnSpPr>
        <p:spPr>
          <a:xfrm>
            <a:off x="4078605" y="3545840"/>
            <a:ext cx="386715" cy="0"/>
          </a:xfrm>
          <a:prstGeom prst="straightConnector1">
            <a:avLst/>
          </a:prstGeom>
          <a:noFill/>
          <a:ln w="15875" cap="flat" cmpd="sng" algn="ctr">
            <a:solidFill>
              <a:srgbClr val="249087"/>
            </a:solidFill>
            <a:prstDash val="solid"/>
            <a:miter lim="800000"/>
            <a:tailEnd type="none"/>
          </a:ln>
          <a:effectLst/>
        </p:spPr>
      </p:cxnSp>
      <p:sp>
        <p:nvSpPr>
          <p:cNvPr id="371" name="椭圆 370"/>
          <p:cNvSpPr/>
          <p:nvPr/>
        </p:nvSpPr>
        <p:spPr>
          <a:xfrm>
            <a:off x="10135870" y="5971540"/>
            <a:ext cx="75565" cy="75565"/>
          </a:xfrm>
          <a:prstGeom prst="ellipse">
            <a:avLst/>
          </a:prstGeom>
          <a:solidFill>
            <a:srgbClr val="004D3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372" name="文本框 371"/>
          <p:cNvSpPr txBox="1"/>
          <p:nvPr/>
        </p:nvSpPr>
        <p:spPr>
          <a:xfrm>
            <a:off x="10219055" y="3149918"/>
            <a:ext cx="1367790" cy="610235"/>
          </a:xfrm>
          <a:prstGeom prst="rect">
            <a:avLst/>
          </a:prstGeom>
          <a:noFill/>
          <a:ln>
            <a:solidFill>
              <a:sysClr val="window" lastClr="FFFFFF"/>
            </a:solidFill>
          </a:ln>
        </p:spPr>
        <p:txBody>
          <a:bodyPr wrap="square" lIns="46990" tIns="17780" rIns="46990" bIns="46990" rtlCol="0">
            <a:noAutofit/>
          </a:bodyP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sym typeface="+mn-ea"/>
              </a:rPr>
              <a:t>智能电网</a:t>
            </a: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sym typeface="+mn-ea"/>
              </a:rPr>
              <a:t>调度控制系统</a:t>
            </a:r>
            <a:endParaRPr kumimoji="0" lang="zh-CN" altLang="en-US" sz="1000" b="1" i="0" u="none" strike="noStrike" kern="0" cap="none" spc="0" normalizeH="0" baseline="0" noProof="0" dirty="0">
              <a:ln>
                <a:noFill/>
              </a:ln>
              <a:solidFill>
                <a:srgbClr val="44546A"/>
              </a:solidFill>
              <a:effectLst/>
              <a:uLnTx/>
              <a:uFillTx/>
              <a:latin typeface="微软雅黑" panose="020B0503020204020204" charset="-122"/>
              <a:sym typeface="+mn-ea"/>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700" b="0" i="0" u="none" strike="noStrike" kern="0" cap="none" spc="0" normalizeH="0" baseline="0" noProof="0" dirty="0">
                <a:ln>
                  <a:noFill/>
                </a:ln>
                <a:solidFill>
                  <a:prstClr val="white"/>
                </a:solidFill>
                <a:effectLst/>
                <a:uLnTx/>
                <a:uFillTx/>
                <a:latin typeface="微软雅黑" panose="020B0503020204020204" charset="-122"/>
                <a:sym typeface="+mn-ea"/>
              </a:rPr>
              <a:t>调度名称与变电站映射关系表</a:t>
            </a:r>
          </a:p>
        </p:txBody>
      </p:sp>
      <p:cxnSp>
        <p:nvCxnSpPr>
          <p:cNvPr id="373" name="直接箭头连接符 372"/>
          <p:cNvCxnSpPr>
            <a:stCxn id="322" idx="3"/>
          </p:cNvCxnSpPr>
          <p:nvPr/>
        </p:nvCxnSpPr>
        <p:spPr>
          <a:xfrm>
            <a:off x="7926070" y="3545205"/>
            <a:ext cx="645795" cy="635"/>
          </a:xfrm>
          <a:prstGeom prst="straightConnector1">
            <a:avLst/>
          </a:prstGeom>
          <a:noFill/>
          <a:ln w="15875" cap="flat" cmpd="sng" algn="ctr">
            <a:solidFill>
              <a:srgbClr val="249087"/>
            </a:solidFill>
            <a:prstDash val="solid"/>
            <a:miter lim="800000"/>
            <a:headEnd type="triangle"/>
            <a:tailEnd type="none"/>
          </a:ln>
          <a:effectLst/>
        </p:spPr>
      </p:cxnSp>
      <p:cxnSp>
        <p:nvCxnSpPr>
          <p:cNvPr id="374" name="连接符: 肘形 260"/>
          <p:cNvCxnSpPr>
            <a:stCxn id="337" idx="2"/>
            <a:endCxn id="349" idx="2"/>
          </p:cNvCxnSpPr>
          <p:nvPr/>
        </p:nvCxnSpPr>
        <p:spPr>
          <a:xfrm rot="5400000" flipV="1">
            <a:off x="4434840" y="4572000"/>
            <a:ext cx="3175" cy="1791970"/>
          </a:xfrm>
          <a:prstGeom prst="bentConnector3">
            <a:avLst>
              <a:gd name="adj1" fmla="val 3430000"/>
            </a:avLst>
          </a:prstGeom>
          <a:noFill/>
          <a:ln w="19050" cap="flat" cmpd="sng" algn="ctr">
            <a:solidFill>
              <a:srgbClr val="F2BA02"/>
            </a:solidFill>
            <a:prstDash val="solid"/>
            <a:round/>
            <a:headEnd type="none" w="med" len="med"/>
            <a:tailEnd type="none" w="med" len="med"/>
          </a:ln>
          <a:effectLst/>
        </p:spPr>
      </p:cxnSp>
      <p:cxnSp>
        <p:nvCxnSpPr>
          <p:cNvPr id="375" name="直接箭头连接符 374"/>
          <p:cNvCxnSpPr/>
          <p:nvPr/>
        </p:nvCxnSpPr>
        <p:spPr>
          <a:xfrm>
            <a:off x="4804410" y="5577840"/>
            <a:ext cx="3924300" cy="0"/>
          </a:xfrm>
          <a:prstGeom prst="straightConnector1">
            <a:avLst/>
          </a:prstGeom>
          <a:noFill/>
          <a:ln w="15875" cap="flat" cmpd="sng" algn="ctr">
            <a:solidFill>
              <a:srgbClr val="EEB600"/>
            </a:solidFill>
            <a:prstDash val="solid"/>
            <a:miter lim="800000"/>
            <a:tailEnd type="triangle"/>
          </a:ln>
          <a:effectLst/>
        </p:spPr>
      </p:cxnSp>
      <p:cxnSp>
        <p:nvCxnSpPr>
          <p:cNvPr id="376" name="直接箭头连接符 375"/>
          <p:cNvCxnSpPr>
            <a:stCxn id="327" idx="2"/>
          </p:cNvCxnSpPr>
          <p:nvPr/>
        </p:nvCxnSpPr>
        <p:spPr>
          <a:xfrm>
            <a:off x="7385685" y="4554855"/>
            <a:ext cx="0" cy="1010920"/>
          </a:xfrm>
          <a:prstGeom prst="straightConnector1">
            <a:avLst/>
          </a:prstGeom>
          <a:noFill/>
          <a:ln w="15875" cap="flat" cmpd="sng" algn="ctr">
            <a:solidFill>
              <a:srgbClr val="EEB600"/>
            </a:solidFill>
            <a:prstDash val="solid"/>
            <a:miter lim="800000"/>
            <a:tailEnd type="oval"/>
          </a:ln>
          <a:effectLst/>
        </p:spPr>
      </p:cxnSp>
      <p:sp>
        <p:nvSpPr>
          <p:cNvPr id="377" name="椭圆 376"/>
          <p:cNvSpPr/>
          <p:nvPr/>
        </p:nvSpPr>
        <p:spPr>
          <a:xfrm>
            <a:off x="5296535" y="5539740"/>
            <a:ext cx="75565" cy="75565"/>
          </a:xfrm>
          <a:prstGeom prst="ellipse">
            <a:avLst/>
          </a:prstGeom>
          <a:solidFill>
            <a:srgbClr val="EEB6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
        <p:nvSpPr>
          <p:cNvPr id="378" name="椭圆 377"/>
          <p:cNvSpPr/>
          <p:nvPr/>
        </p:nvSpPr>
        <p:spPr>
          <a:xfrm>
            <a:off x="3503295" y="5539740"/>
            <a:ext cx="75565" cy="75565"/>
          </a:xfrm>
          <a:prstGeom prst="ellipse">
            <a:avLst/>
          </a:prstGeom>
          <a:solidFill>
            <a:srgbClr val="EEB6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a:ln>
                <a:noFill/>
              </a:ln>
              <a:solidFill>
                <a:prstClr val="white"/>
              </a:solidFill>
              <a:effectLst/>
              <a:uLnTx/>
              <a:uFillTx/>
              <a:latin typeface="Calibri" panose="020F0502020204030204"/>
              <a:ea typeface="微软雅黑" panose="020B0503020204020204"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0"/>
          <p:cNvPicPr>
            <a:picLocks noChangeAspect="1"/>
          </p:cNvPicPr>
          <p:nvPr/>
        </p:nvPicPr>
        <p:blipFill>
          <a:blip r:embed="rId15"/>
          <a:stretch>
            <a:fillRect/>
          </a:stretch>
        </p:blipFill>
        <p:spPr>
          <a:xfrm rot="21600000">
            <a:off x="392715" y="226734"/>
            <a:ext cx="2875692" cy="780972"/>
          </a:xfrm>
          <a:prstGeom prst="rect">
            <a:avLst/>
          </a:prstGeom>
        </p:spPr>
      </p:pic>
      <p:sp>
        <p:nvSpPr>
          <p:cNvPr id="22" name="textbox 138"/>
          <p:cNvSpPr/>
          <p:nvPr/>
        </p:nvSpPr>
        <p:spPr>
          <a:xfrm>
            <a:off x="3084830" y="558165"/>
            <a:ext cx="8877935" cy="49403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3685"/>
              </a:lnSpc>
            </a:pPr>
            <a:r>
              <a:rPr lang="zh-CN" sz="2700" b="1" kern="0" spc="70" dirty="0">
                <a:solidFill>
                  <a:srgbClr val="006666">
                    <a:alpha val="100000"/>
                  </a:srgbClr>
                </a:solidFill>
                <a:latin typeface="微软雅黑" panose="020B0503020204020204" charset="-122"/>
                <a:ea typeface="微软雅黑" panose="020B0503020204020204" charset="-122"/>
                <a:cs typeface="微软雅黑" panose="020B0503020204020204" charset="-122"/>
                <a:sym typeface="+mn-lt"/>
              </a:rPr>
              <a:t>问效指标</a:t>
            </a:r>
          </a:p>
        </p:txBody>
      </p:sp>
      <p:pic>
        <p:nvPicPr>
          <p:cNvPr id="2" name="picture 24"/>
          <p:cNvPicPr>
            <a:picLocks noChangeAspect="1"/>
          </p:cNvPicPr>
          <p:nvPr/>
        </p:nvPicPr>
        <p:blipFill>
          <a:blip r:embed="rId16"/>
          <a:stretch>
            <a:fillRect/>
          </a:stretch>
        </p:blipFill>
        <p:spPr>
          <a:xfrm rot="21600000">
            <a:off x="0" y="1007872"/>
            <a:ext cx="12192000" cy="5827775"/>
          </a:xfrm>
          <a:prstGeom prst="rect">
            <a:avLst/>
          </a:prstGeom>
        </p:spPr>
      </p:pic>
      <p:sp>
        <p:nvSpPr>
          <p:cNvPr id="16" name="文本框 15"/>
          <p:cNvSpPr txBox="1"/>
          <p:nvPr/>
        </p:nvSpPr>
        <p:spPr>
          <a:xfrm>
            <a:off x="392430" y="1178560"/>
            <a:ext cx="11635105" cy="746760"/>
          </a:xfrm>
          <a:prstGeom prst="rect">
            <a:avLst/>
          </a:prstGeom>
          <a:noFill/>
          <a:ln>
            <a:solidFill>
              <a:srgbClr val="6DAEAB"/>
            </a:solidFill>
          </a:ln>
        </p:spPr>
        <p:txBody>
          <a:bodyPr wrap="square" rtlCol="0">
            <a:noAutofit/>
          </a:bodyPr>
          <a:lstStyle/>
          <a:p>
            <a:pPr marL="0" marR="0" lvl="0" indent="457200" algn="just"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Calibri" panose="020F0502020204030204"/>
              </a:rPr>
              <a:t>通过分析容载比、负载率等关键指标，精准识别低效项目，指导设备扩容或负荷调整，提升资产利用率。</a:t>
            </a:r>
          </a:p>
        </p:txBody>
      </p:sp>
      <p:sp>
        <p:nvSpPr>
          <p:cNvPr id="8" name="圆角矩形 7"/>
          <p:cNvSpPr/>
          <p:nvPr>
            <p:custDataLst>
              <p:tags r:id="rId1"/>
            </p:custDataLst>
          </p:nvPr>
        </p:nvSpPr>
        <p:spPr>
          <a:xfrm>
            <a:off x="414655" y="2185670"/>
            <a:ext cx="11304000" cy="936000"/>
          </a:xfrm>
          <a:prstGeom prst="roundRect">
            <a:avLst/>
          </a:prstGeom>
          <a:solidFill>
            <a:srgbClr val="D7EDEA"/>
          </a:solidFill>
          <a:ln w="12700">
            <a:solidFill>
              <a:srgbClr val="00ACA1">
                <a:alpha val="70000"/>
              </a:srgbClr>
            </a:solidFill>
          </a:ln>
          <a:effectLst>
            <a:outerShdw blurRad="254000" dist="63500" dir="5400000" algn="t" rotWithShape="0">
              <a:srgbClr val="006E6E">
                <a:alpha val="2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lIns="144145" rtlCol="0" anchor="ctr"/>
          <a:lstStyle/>
          <a:p>
            <a:pPr algn="l"/>
            <a:endParaRPr lang="zh-CN" altLang="en-US" b="1" spc="300">
              <a:solidFill>
                <a:srgbClr val="14439F"/>
              </a:solidFill>
              <a:effectLst/>
              <a:uFillTx/>
              <a:latin typeface="微软雅黑" panose="020B0503020204020204" charset="-122"/>
              <a:ea typeface="微软雅黑" panose="020B0503020204020204" charset="-122"/>
            </a:endParaRPr>
          </a:p>
        </p:txBody>
      </p:sp>
      <p:sp>
        <p:nvSpPr>
          <p:cNvPr id="9" name="圆角矩形 8"/>
          <p:cNvSpPr/>
          <p:nvPr>
            <p:custDataLst>
              <p:tags r:id="rId2"/>
            </p:custDataLst>
          </p:nvPr>
        </p:nvSpPr>
        <p:spPr>
          <a:xfrm>
            <a:off x="398780" y="2185670"/>
            <a:ext cx="2448000" cy="936000"/>
          </a:xfrm>
          <a:prstGeom prst="roundRect">
            <a:avLst/>
          </a:prstGeom>
          <a:gradFill>
            <a:gsLst>
              <a:gs pos="100000">
                <a:srgbClr val="1DBFAE"/>
              </a:gs>
              <a:gs pos="0">
                <a:srgbClr val="006666"/>
              </a:gs>
            </a:gsLst>
            <a:lin ang="10800000" scaled="0"/>
          </a:gradFill>
          <a:ln>
            <a:noFill/>
          </a:ln>
          <a:effectLst>
            <a:outerShdw blurRad="254000" dist="101600" algn="l" rotWithShape="0">
              <a:srgbClr val="074E4E">
                <a:alpha val="4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rtlCol="0" anchor="ctr"/>
          <a:lstStyle/>
          <a:p>
            <a:pPr algn="ctr"/>
            <a:r>
              <a:rPr lang="zh-CN" altLang="en-US" b="1">
                <a:latin typeface="微软雅黑" panose="020B0503020204020204" charset="-122"/>
                <a:ea typeface="微软雅黑" panose="020B0503020204020204" charset="-122"/>
                <a:sym typeface="+mn-ea"/>
              </a:rPr>
              <a:t>容载比判断规则</a:t>
            </a:r>
            <a:endParaRPr lang="zh-CN" altLang="en-US" b="1" spc="300" dirty="0">
              <a:solidFill>
                <a:sysClr val="window" lastClr="FFFFFF"/>
              </a:solidFill>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微软雅黑" panose="020B0503020204020204" charset="-122"/>
            </a:endParaRPr>
          </a:p>
        </p:txBody>
      </p:sp>
      <p:sp>
        <p:nvSpPr>
          <p:cNvPr id="3" name="TextBox 18"/>
          <p:cNvSpPr/>
          <p:nvPr>
            <p:custDataLst>
              <p:tags r:id="rId3"/>
            </p:custDataLst>
          </p:nvPr>
        </p:nvSpPr>
        <p:spPr>
          <a:xfrm>
            <a:off x="3077845" y="2254890"/>
            <a:ext cx="8424000" cy="873125"/>
          </a:xfrm>
          <a:prstGeom prst="rect">
            <a:avLst/>
          </a:prstGeom>
          <a:noFill/>
          <a:ln w="28575">
            <a:noFill/>
            <a:prstDash val="dash"/>
          </a:ln>
        </p:spPr>
        <p:style>
          <a:lnRef idx="2">
            <a:srgbClr val="6096E6">
              <a:shade val="50000"/>
            </a:srgbClr>
          </a:lnRef>
          <a:fillRef idx="1">
            <a:srgbClr val="6096E6"/>
          </a:fillRef>
          <a:effectRef idx="0">
            <a:srgbClr val="6096E6"/>
          </a:effectRef>
          <a:fontRef idx="minor">
            <a:sysClr val="window" lastClr="FFFFFF"/>
          </a:fontRef>
        </p:style>
        <p:txBody>
          <a:bodyPr vertOverflow="overflow" horzOverflow="overflow" vert="horz" wrap="square" lIns="0" tIns="0" rIns="0" bIns="0" numCol="1" spcCol="0" rtlCol="0" fromWordArt="0" anchor="t" anchorCtr="0" forceAA="0" compatLnSpc="1">
            <a:spAutoFit/>
          </a:bodyPr>
          <a:lstStyle/>
          <a:p>
            <a:pPr lvl="0" indent="0" algn="just" fontAlgn="auto">
              <a:lnSpc>
                <a:spcPct val="130000"/>
              </a:lnSpc>
              <a:spcAft>
                <a:spcPts val="600"/>
              </a:spcAft>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- 35kV</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110kV</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的容载比合理范围：</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1.8</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2.2</a:t>
            </a:r>
            <a:endParaRPr lang="en-US" altLang="zh-CN" sz="1200">
              <a:solidFill>
                <a:schemeClr val="tx1"/>
              </a:solidFill>
              <a:latin typeface="微软雅黑" panose="020B0503020204020204" charset="-122"/>
              <a:ea typeface="微软雅黑" panose="020B0503020204020204" charset="-122"/>
              <a:cs typeface="微软雅黑" panose="020B0503020204020204" charset="-122"/>
            </a:endParaRPr>
          </a:p>
          <a:p>
            <a:pPr lvl="0" indent="0" algn="just" fontAlgn="auto">
              <a:lnSpc>
                <a:spcPct val="130000"/>
              </a:lnSpc>
              <a:spcAft>
                <a:spcPts val="600"/>
              </a:spcAft>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- 220kV</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330kV</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的容载比合理范围：</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1.6</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2.1</a:t>
            </a:r>
            <a:endParaRPr lang="en-US" altLang="zh-CN" sz="1200">
              <a:solidFill>
                <a:schemeClr val="tx1"/>
              </a:solidFill>
              <a:latin typeface="微软雅黑" panose="020B0503020204020204" charset="-122"/>
              <a:ea typeface="微软雅黑" panose="020B0503020204020204" charset="-122"/>
              <a:cs typeface="微软雅黑" panose="020B0503020204020204" charset="-122"/>
            </a:endParaRPr>
          </a:p>
          <a:p>
            <a:pPr lvl="0" indent="0" algn="just" fontAlgn="auto">
              <a:lnSpc>
                <a:spcPct val="130000"/>
              </a:lnSpc>
              <a:spcAft>
                <a:spcPts val="600"/>
              </a:spcAft>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- 500kV</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及以上的容载比合理范围：</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1.5</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2.0</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5" name="圆角矩形 4"/>
          <p:cNvSpPr/>
          <p:nvPr>
            <p:custDataLst>
              <p:tags r:id="rId4"/>
            </p:custDataLst>
          </p:nvPr>
        </p:nvSpPr>
        <p:spPr>
          <a:xfrm>
            <a:off x="392430" y="3413135"/>
            <a:ext cx="11304000" cy="935990"/>
          </a:xfrm>
          <a:prstGeom prst="roundRect">
            <a:avLst/>
          </a:prstGeom>
          <a:solidFill>
            <a:srgbClr val="D7EDEA"/>
          </a:solidFill>
          <a:ln w="12700">
            <a:solidFill>
              <a:srgbClr val="00ACA1">
                <a:alpha val="70000"/>
              </a:srgbClr>
            </a:solidFill>
          </a:ln>
          <a:effectLst>
            <a:outerShdw blurRad="254000" dist="63500" dir="5400000" algn="t" rotWithShape="0">
              <a:srgbClr val="006E6E">
                <a:alpha val="2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lIns="144145" rtlCol="0" anchor="ctr"/>
          <a:lstStyle/>
          <a:p>
            <a:pPr algn="l"/>
            <a:endParaRPr lang="zh-CN" altLang="en-US" b="1" spc="300">
              <a:solidFill>
                <a:srgbClr val="14439F"/>
              </a:solidFill>
              <a:effectLst/>
              <a:uFillTx/>
              <a:latin typeface="微软雅黑" panose="020B0503020204020204" charset="-122"/>
              <a:ea typeface="微软雅黑" panose="020B0503020204020204" charset="-122"/>
            </a:endParaRPr>
          </a:p>
        </p:txBody>
      </p:sp>
      <p:sp>
        <p:nvSpPr>
          <p:cNvPr id="6" name="圆角矩形 5"/>
          <p:cNvSpPr/>
          <p:nvPr>
            <p:custDataLst>
              <p:tags r:id="rId5"/>
            </p:custDataLst>
          </p:nvPr>
        </p:nvSpPr>
        <p:spPr>
          <a:xfrm>
            <a:off x="376555" y="3413130"/>
            <a:ext cx="2448000" cy="936000"/>
          </a:xfrm>
          <a:prstGeom prst="roundRect">
            <a:avLst/>
          </a:prstGeom>
          <a:gradFill>
            <a:gsLst>
              <a:gs pos="100000">
                <a:srgbClr val="1DBFAE"/>
              </a:gs>
              <a:gs pos="0">
                <a:srgbClr val="006666"/>
              </a:gs>
            </a:gsLst>
            <a:lin ang="10800000" scaled="0"/>
          </a:gradFill>
          <a:ln>
            <a:noFill/>
          </a:ln>
          <a:effectLst>
            <a:outerShdw blurRad="254000" dist="101600" algn="l" rotWithShape="0">
              <a:srgbClr val="074E4E">
                <a:alpha val="4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rtlCol="0" anchor="ctr"/>
          <a:lstStyle/>
          <a:p>
            <a:pPr algn="ctr"/>
            <a:r>
              <a:rPr lang="zh-CN" altLang="en-US" b="1" spc="300" dirty="0">
                <a:solidFill>
                  <a:sysClr val="window" lastClr="FFFFFF"/>
                </a:solidFill>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微软雅黑" panose="020B0503020204020204" charset="-122"/>
              </a:rPr>
              <a:t>负载率指标</a:t>
            </a:r>
          </a:p>
          <a:p>
            <a:pPr algn="ctr"/>
            <a:r>
              <a:rPr lang="zh-CN" altLang="en-US" b="1" spc="300" dirty="0">
                <a:solidFill>
                  <a:sysClr val="window" lastClr="FFFFFF"/>
                </a:solidFill>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微软雅黑" panose="020B0503020204020204" charset="-122"/>
              </a:rPr>
              <a:t>判断规则</a:t>
            </a:r>
          </a:p>
        </p:txBody>
      </p:sp>
      <p:sp>
        <p:nvSpPr>
          <p:cNvPr id="7" name="TextBox 18"/>
          <p:cNvSpPr/>
          <p:nvPr>
            <p:custDataLst>
              <p:tags r:id="rId6"/>
            </p:custDataLst>
          </p:nvPr>
        </p:nvSpPr>
        <p:spPr>
          <a:xfrm>
            <a:off x="3055620" y="3535055"/>
            <a:ext cx="8424000" cy="276860"/>
          </a:xfrm>
          <a:prstGeom prst="rect">
            <a:avLst/>
          </a:prstGeom>
          <a:noFill/>
          <a:ln w="28575">
            <a:noFill/>
            <a:prstDash val="dash"/>
          </a:ln>
        </p:spPr>
        <p:style>
          <a:lnRef idx="2">
            <a:srgbClr val="6096E6">
              <a:shade val="50000"/>
            </a:srgbClr>
          </a:lnRef>
          <a:fillRef idx="1">
            <a:srgbClr val="6096E6"/>
          </a:fillRef>
          <a:effectRef idx="0">
            <a:srgbClr val="6096E6"/>
          </a:effectRef>
          <a:fontRef idx="minor">
            <a:sysClr val="window" lastClr="FFFFFF"/>
          </a:fontRef>
        </p:style>
        <p:txBody>
          <a:bodyPr vertOverflow="overflow" horzOverflow="overflow" vert="horz" wrap="square" lIns="0" tIns="0" rIns="0" bIns="0" numCol="1" spcCol="0" rtlCol="0" fromWordArt="0" anchor="t" anchorCtr="0" forceAA="0" compatLnSpc="1">
            <a:spAutoFit/>
          </a:bodyPr>
          <a:lstStyle/>
          <a:p>
            <a:pPr lvl="0" algn="just">
              <a:lnSpc>
                <a:spcPct val="150000"/>
              </a:lnSpc>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最大负载率</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&gt;80% or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最大负载率</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&lt; 20%] or [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平均负载率</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&lt; 10% ]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，变电站负载率指标不满足要求</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3" name="圆角矩形 12"/>
          <p:cNvSpPr/>
          <p:nvPr>
            <p:custDataLst>
              <p:tags r:id="rId7"/>
            </p:custDataLst>
          </p:nvPr>
        </p:nvSpPr>
        <p:spPr>
          <a:xfrm>
            <a:off x="392430" y="4606925"/>
            <a:ext cx="11304270" cy="998220"/>
          </a:xfrm>
          <a:prstGeom prst="roundRect">
            <a:avLst/>
          </a:prstGeom>
          <a:solidFill>
            <a:srgbClr val="D7EDEA"/>
          </a:solidFill>
          <a:ln w="12700">
            <a:solidFill>
              <a:srgbClr val="00ACA1">
                <a:alpha val="70000"/>
              </a:srgbClr>
            </a:solidFill>
          </a:ln>
          <a:effectLst>
            <a:outerShdw blurRad="254000" dist="63500" dir="5400000" algn="t" rotWithShape="0">
              <a:srgbClr val="006E6E">
                <a:alpha val="2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lIns="144145" rtlCol="0" anchor="ctr"/>
          <a:lstStyle/>
          <a:p>
            <a:pPr algn="l"/>
            <a:endParaRPr lang="zh-CN" altLang="en-US" b="1" spc="300">
              <a:solidFill>
                <a:srgbClr val="14439F"/>
              </a:solidFill>
              <a:effectLst/>
              <a:uFillTx/>
              <a:latin typeface="微软雅黑" panose="020B0503020204020204" charset="-122"/>
              <a:ea typeface="微软雅黑" panose="020B0503020204020204" charset="-122"/>
            </a:endParaRPr>
          </a:p>
        </p:txBody>
      </p:sp>
      <p:sp>
        <p:nvSpPr>
          <p:cNvPr id="14" name="圆角矩形 13"/>
          <p:cNvSpPr/>
          <p:nvPr>
            <p:custDataLst>
              <p:tags r:id="rId8"/>
            </p:custDataLst>
          </p:nvPr>
        </p:nvSpPr>
        <p:spPr>
          <a:xfrm>
            <a:off x="376555" y="4606925"/>
            <a:ext cx="2448000" cy="936000"/>
          </a:xfrm>
          <a:prstGeom prst="roundRect">
            <a:avLst/>
          </a:prstGeom>
          <a:gradFill>
            <a:gsLst>
              <a:gs pos="100000">
                <a:srgbClr val="1DBFAE"/>
              </a:gs>
              <a:gs pos="0">
                <a:srgbClr val="006666"/>
              </a:gs>
            </a:gsLst>
            <a:lin ang="10800000" scaled="0"/>
          </a:gradFill>
          <a:ln>
            <a:noFill/>
          </a:ln>
          <a:effectLst>
            <a:outerShdw blurRad="254000" dist="101600" algn="l" rotWithShape="0">
              <a:srgbClr val="074E4E">
                <a:alpha val="4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rtlCol="0" anchor="ctr"/>
          <a:lstStyle/>
          <a:p>
            <a:pPr algn="ctr">
              <a:buClrTx/>
              <a:buSzTx/>
              <a:buNone/>
            </a:pPr>
            <a:r>
              <a:rPr lang="zh-CN" altLang="en-US" sz="1800" b="1" spc="300" dirty="0">
                <a:solidFill>
                  <a:sysClr val="window" lastClr="FFFFFF"/>
                </a:solidFill>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微软雅黑" panose="020B0503020204020204" charset="-122"/>
              </a:rPr>
              <a:t>负载率</a:t>
            </a:r>
          </a:p>
          <a:p>
            <a:pPr algn="ctr">
              <a:buClrTx/>
              <a:buSzTx/>
              <a:buNone/>
            </a:pPr>
            <a:r>
              <a:rPr lang="zh-CN" altLang="en-US" sz="1800" b="1" spc="300" dirty="0">
                <a:solidFill>
                  <a:sysClr val="window" lastClr="FFFFFF"/>
                </a:solidFill>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微软雅黑" panose="020B0503020204020204" charset="-122"/>
              </a:rPr>
              <a:t>发展要求</a:t>
            </a:r>
          </a:p>
        </p:txBody>
      </p:sp>
      <p:sp>
        <p:nvSpPr>
          <p:cNvPr id="15" name="TextBox 18"/>
          <p:cNvSpPr/>
          <p:nvPr>
            <p:custDataLst>
              <p:tags r:id="rId9"/>
            </p:custDataLst>
          </p:nvPr>
        </p:nvSpPr>
        <p:spPr>
          <a:xfrm>
            <a:off x="3055620" y="4634235"/>
            <a:ext cx="8424000" cy="969010"/>
          </a:xfrm>
          <a:prstGeom prst="rect">
            <a:avLst/>
          </a:prstGeom>
          <a:noFill/>
          <a:ln w="28575">
            <a:noFill/>
            <a:prstDash val="dash"/>
          </a:ln>
        </p:spPr>
        <p:style>
          <a:lnRef idx="2">
            <a:srgbClr val="6096E6">
              <a:shade val="50000"/>
            </a:srgbClr>
          </a:lnRef>
          <a:fillRef idx="1">
            <a:srgbClr val="6096E6"/>
          </a:fillRef>
          <a:effectRef idx="0">
            <a:srgbClr val="6096E6"/>
          </a:effectRef>
          <a:fontRef idx="minor">
            <a:sysClr val="window" lastClr="FFFFFF"/>
          </a:fontRef>
        </p:style>
        <p:txBody>
          <a:bodyPr vertOverflow="overflow" horzOverflow="overflow" vert="horz" wrap="square" lIns="0" tIns="0" rIns="0" bIns="0" numCol="1" spcCol="0" rtlCol="0" fromWordArt="0" anchor="t" anchorCtr="0" forceAA="0" compatLnSpc="1">
            <a:spAutoFit/>
          </a:bodyPr>
          <a:lstStyle/>
          <a:p>
            <a:pPr lvl="0" indent="0" algn="just" fontAlgn="auto">
              <a:lnSpc>
                <a:spcPct val="100000"/>
              </a:lnSpc>
              <a:spcAft>
                <a:spcPts val="600"/>
              </a:spcAft>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投产后第一年</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最大负载率</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&gt;30%</a:t>
            </a:r>
            <a:endParaRPr lang="en-US" altLang="zh-CN" sz="1200">
              <a:solidFill>
                <a:schemeClr val="tx1"/>
              </a:solidFill>
              <a:latin typeface="微软雅黑" panose="020B0503020204020204" charset="-122"/>
              <a:ea typeface="微软雅黑" panose="020B0503020204020204" charset="-122"/>
              <a:cs typeface="微软雅黑" panose="020B0503020204020204" charset="-122"/>
            </a:endParaRPr>
          </a:p>
          <a:p>
            <a:pPr lvl="0" indent="0" algn="just" fontAlgn="auto">
              <a:lnSpc>
                <a:spcPct val="100000"/>
              </a:lnSpc>
              <a:spcAft>
                <a:spcPts val="600"/>
              </a:spcAft>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投产后第二年</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最大负载率</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&gt;40%</a:t>
            </a:r>
            <a:endParaRPr lang="en-US" altLang="zh-CN" sz="1200">
              <a:solidFill>
                <a:schemeClr val="tx1"/>
              </a:solidFill>
              <a:latin typeface="微软雅黑" panose="020B0503020204020204" charset="-122"/>
              <a:ea typeface="微软雅黑" panose="020B0503020204020204" charset="-122"/>
              <a:cs typeface="微软雅黑" panose="020B0503020204020204" charset="-122"/>
            </a:endParaRPr>
          </a:p>
          <a:p>
            <a:pPr lvl="0" indent="0" algn="just" fontAlgn="auto">
              <a:lnSpc>
                <a:spcPct val="100000"/>
              </a:lnSpc>
              <a:spcAft>
                <a:spcPts val="600"/>
              </a:spcAft>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投产后第三年</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最大负载率</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&gt;50%</a:t>
            </a:r>
            <a:endParaRPr lang="en-US" altLang="zh-CN" sz="1200">
              <a:solidFill>
                <a:schemeClr val="tx1"/>
              </a:solidFill>
              <a:latin typeface="微软雅黑" panose="020B0503020204020204" charset="-122"/>
              <a:ea typeface="微软雅黑" panose="020B0503020204020204" charset="-122"/>
              <a:cs typeface="微软雅黑" panose="020B0503020204020204" charset="-122"/>
            </a:endParaRPr>
          </a:p>
          <a:p>
            <a:pPr lvl="0" indent="0" algn="just" fontAlgn="auto">
              <a:lnSpc>
                <a:spcPct val="100000"/>
              </a:lnSpc>
              <a:spcAft>
                <a:spcPts val="600"/>
              </a:spcAft>
              <a:buClrTx/>
              <a:buSzTx/>
              <a:buFontTx/>
            </a:pP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投产后第</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n</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年，应当是计算</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n*12</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个自然月以后。如</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2022</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年投产，则</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2023</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年数据为投产后第一年。</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7" name="圆角矩形 16"/>
          <p:cNvSpPr/>
          <p:nvPr>
            <p:custDataLst>
              <p:tags r:id="rId10"/>
            </p:custDataLst>
          </p:nvPr>
        </p:nvSpPr>
        <p:spPr>
          <a:xfrm>
            <a:off x="398780" y="5836930"/>
            <a:ext cx="11304000" cy="935990"/>
          </a:xfrm>
          <a:prstGeom prst="roundRect">
            <a:avLst/>
          </a:prstGeom>
          <a:solidFill>
            <a:srgbClr val="D7EDEA"/>
          </a:solidFill>
          <a:ln w="12700">
            <a:solidFill>
              <a:srgbClr val="00ACA1">
                <a:alpha val="70000"/>
              </a:srgbClr>
            </a:solidFill>
          </a:ln>
          <a:effectLst>
            <a:outerShdw blurRad="254000" dist="63500" dir="5400000" algn="t" rotWithShape="0">
              <a:srgbClr val="006E6E">
                <a:alpha val="2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lIns="144145" rtlCol="0" anchor="ctr"/>
          <a:lstStyle/>
          <a:p>
            <a:pPr algn="l"/>
            <a:endParaRPr lang="zh-CN" altLang="en-US" b="1" spc="300">
              <a:solidFill>
                <a:srgbClr val="14439F"/>
              </a:solidFill>
              <a:effectLst/>
              <a:uFillTx/>
              <a:latin typeface="微软雅黑" panose="020B0503020204020204" charset="-122"/>
              <a:ea typeface="微软雅黑" panose="020B0503020204020204" charset="-122"/>
            </a:endParaRPr>
          </a:p>
        </p:txBody>
      </p:sp>
      <p:sp>
        <p:nvSpPr>
          <p:cNvPr id="18" name="圆角矩形 17"/>
          <p:cNvSpPr/>
          <p:nvPr>
            <p:custDataLst>
              <p:tags r:id="rId11"/>
            </p:custDataLst>
          </p:nvPr>
        </p:nvSpPr>
        <p:spPr>
          <a:xfrm>
            <a:off x="382905" y="5836925"/>
            <a:ext cx="2448000" cy="936000"/>
          </a:xfrm>
          <a:prstGeom prst="roundRect">
            <a:avLst/>
          </a:prstGeom>
          <a:gradFill>
            <a:gsLst>
              <a:gs pos="100000">
                <a:srgbClr val="1DBFAE"/>
              </a:gs>
              <a:gs pos="0">
                <a:srgbClr val="006666"/>
              </a:gs>
            </a:gsLst>
            <a:lin ang="10800000" scaled="0"/>
          </a:gradFill>
          <a:ln>
            <a:noFill/>
          </a:ln>
          <a:effectLst>
            <a:outerShdw blurRad="254000" dist="101600" algn="l" rotWithShape="0">
              <a:srgbClr val="074E4E">
                <a:alpha val="40000"/>
              </a:srgbClr>
            </a:outerShdw>
          </a:effectLst>
        </p:spPr>
        <p:style>
          <a:lnRef idx="2">
            <a:srgbClr val="6096E6">
              <a:lumMod val="75000"/>
            </a:srgbClr>
          </a:lnRef>
          <a:fillRef idx="1">
            <a:srgbClr val="6096E6"/>
          </a:fillRef>
          <a:effectRef idx="0">
            <a:srgbClr val="FFFFFF"/>
          </a:effectRef>
          <a:fontRef idx="minor">
            <a:sysClr val="window" lastClr="FFFFFF"/>
          </a:fontRef>
        </p:style>
        <p:txBody>
          <a:bodyPr rtlCol="0" anchor="ctr"/>
          <a:lstStyle/>
          <a:p>
            <a:pPr algn="ctr">
              <a:buClrTx/>
              <a:buSzTx/>
              <a:buNone/>
            </a:pPr>
            <a:r>
              <a:rPr lang="zh-CN" altLang="en-US" sz="1800" b="1" spc="300" dirty="0">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mn-ea"/>
              </a:rPr>
              <a:t>负载率下降</a:t>
            </a:r>
          </a:p>
          <a:p>
            <a:pPr algn="ctr">
              <a:buClrTx/>
              <a:buSzTx/>
              <a:buNone/>
            </a:pPr>
            <a:r>
              <a:rPr lang="zh-CN" altLang="en-US" sz="1800" b="1" spc="300" dirty="0">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mn-ea"/>
              </a:rPr>
              <a:t>判断规则</a:t>
            </a:r>
            <a:endParaRPr lang="zh-CN" altLang="en-US" sz="1800" b="1" spc="300" dirty="0">
              <a:solidFill>
                <a:sysClr val="window" lastClr="FFFFFF"/>
              </a:solidFill>
              <a:effectLst>
                <a:outerShdw blurRad="127000" dist="63500" dir="5400000" algn="t" rotWithShape="0">
                  <a:prstClr val="black">
                    <a:alpha val="40000"/>
                  </a:prstClr>
                </a:outerShdw>
              </a:effectLst>
              <a:uFillTx/>
              <a:latin typeface="微软雅黑" panose="020B0503020204020204" charset="-122"/>
              <a:ea typeface="微软雅黑" panose="020B0503020204020204" charset="-122"/>
              <a:sym typeface="微软雅黑" panose="020B0503020204020204" charset="-122"/>
            </a:endParaRPr>
          </a:p>
        </p:txBody>
      </p:sp>
      <p:sp>
        <p:nvSpPr>
          <p:cNvPr id="19" name="TextBox 18"/>
          <p:cNvSpPr/>
          <p:nvPr>
            <p:custDataLst>
              <p:tags r:id="rId12"/>
            </p:custDataLst>
          </p:nvPr>
        </p:nvSpPr>
        <p:spPr>
          <a:xfrm>
            <a:off x="3061970" y="5888365"/>
            <a:ext cx="8424000" cy="830580"/>
          </a:xfrm>
          <a:prstGeom prst="rect">
            <a:avLst/>
          </a:prstGeom>
          <a:noFill/>
          <a:ln w="28575">
            <a:noFill/>
            <a:prstDash val="dash"/>
          </a:ln>
        </p:spPr>
        <p:style>
          <a:lnRef idx="2">
            <a:srgbClr val="6096E6">
              <a:shade val="50000"/>
            </a:srgbClr>
          </a:lnRef>
          <a:fillRef idx="1">
            <a:srgbClr val="6096E6"/>
          </a:fillRef>
          <a:effectRef idx="0">
            <a:srgbClr val="6096E6"/>
          </a:effectRef>
          <a:fontRef idx="minor">
            <a:sysClr val="window" lastClr="FFFFFF"/>
          </a:fontRef>
        </p:style>
        <p:txBody>
          <a:bodyPr vertOverflow="overflow" horzOverflow="overflow" vert="horz" wrap="square" lIns="0" tIns="0" rIns="0" bIns="0" numCol="1" spcCol="0" rtlCol="0" fromWordArt="0" anchor="t" anchorCtr="0" forceAA="0" compatLnSpc="1">
            <a:spAutoFit/>
          </a:bodyPr>
          <a:lstStyle/>
          <a:p>
            <a:pPr lvl="0" algn="just">
              <a:lnSpc>
                <a:spcPct val="150000"/>
              </a:lnSpc>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下降</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&gt;0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且</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下降</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&lt;=10%</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：稍微缓解压力</a:t>
            </a:r>
            <a:endParaRPr lang="zh-CN" altLang="en-US" sz="1200">
              <a:solidFill>
                <a:schemeClr val="tx1"/>
              </a:solidFill>
              <a:latin typeface="微软雅黑" panose="020B0503020204020204" charset="-122"/>
              <a:ea typeface="微软雅黑" panose="020B0503020204020204" charset="-122"/>
              <a:cs typeface="微软雅黑" panose="020B0503020204020204" charset="-122"/>
            </a:endParaRPr>
          </a:p>
          <a:p>
            <a:pPr lvl="0" algn="just">
              <a:lnSpc>
                <a:spcPct val="150000"/>
              </a:lnSpc>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下降</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&gt;10%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且</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下降</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&lt;=20%</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减轻压力</a:t>
            </a:r>
            <a:endParaRPr lang="zh-CN" altLang="en-US" sz="1200">
              <a:solidFill>
                <a:schemeClr val="tx1"/>
              </a:solidFill>
              <a:latin typeface="微软雅黑" panose="020B0503020204020204" charset="-122"/>
              <a:ea typeface="微软雅黑" panose="020B0503020204020204" charset="-122"/>
              <a:cs typeface="微软雅黑" panose="020B0503020204020204" charset="-122"/>
            </a:endParaRPr>
          </a:p>
          <a:p>
            <a:pPr lvl="0" algn="just">
              <a:lnSpc>
                <a:spcPct val="150000"/>
              </a:lnSpc>
              <a:buClrTx/>
              <a:buSzTx/>
              <a:buFontTx/>
            </a:pP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下降</a:t>
            </a:r>
            <a:r>
              <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rPr>
              <a:t>&gt;20%</a:t>
            </a:r>
            <a:r>
              <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rPr>
              <a:t>：显著降低压力</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E077DA78-E013-4A8C-AD75-63A150561B10}" type="slidenum">
              <a:rPr lang="zh-CN" altLang="en-US" smtClean="0"/>
              <a:t>4</a:t>
            </a:fld>
            <a:r>
              <a:rPr lang="zh-CN" altLang="en-US"/>
              <a:t>/</a:t>
            </a:r>
            <a:r>
              <a:rPr lang="en-US" altLang="zh-CN"/>
              <a:t>24</a:t>
            </a:r>
          </a:p>
        </p:txBody>
      </p:sp>
      <p:pic>
        <p:nvPicPr>
          <p:cNvPr id="3" name="picture 24"/>
          <p:cNvPicPr>
            <a:picLocks noChangeAspect="1"/>
          </p:cNvPicPr>
          <p:nvPr/>
        </p:nvPicPr>
        <p:blipFill>
          <a:blip r:embed="rId26"/>
          <a:stretch>
            <a:fillRect/>
          </a:stretch>
        </p:blipFill>
        <p:spPr>
          <a:xfrm rot="21600000">
            <a:off x="0" y="1007872"/>
            <a:ext cx="12192000" cy="5827775"/>
          </a:xfrm>
          <a:prstGeom prst="rect">
            <a:avLst/>
          </a:prstGeom>
        </p:spPr>
      </p:pic>
      <p:pic>
        <p:nvPicPr>
          <p:cNvPr id="4" name="picture 60"/>
          <p:cNvPicPr>
            <a:picLocks noChangeAspect="1"/>
          </p:cNvPicPr>
          <p:nvPr/>
        </p:nvPicPr>
        <p:blipFill>
          <a:blip r:embed="rId27"/>
          <a:stretch>
            <a:fillRect/>
          </a:stretch>
        </p:blipFill>
        <p:spPr>
          <a:xfrm rot="21600000">
            <a:off x="392715" y="226734"/>
            <a:ext cx="2875692" cy="780972"/>
          </a:xfrm>
          <a:prstGeom prst="rect">
            <a:avLst/>
          </a:prstGeom>
        </p:spPr>
      </p:pic>
      <p:sp>
        <p:nvSpPr>
          <p:cNvPr id="22" name="textbox 138"/>
          <p:cNvSpPr/>
          <p:nvPr/>
        </p:nvSpPr>
        <p:spPr>
          <a:xfrm>
            <a:off x="3872646" y="557896"/>
            <a:ext cx="7877809" cy="49403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ct val="90000"/>
              </a:lnSpc>
            </a:pPr>
            <a:r>
              <a:rPr kumimoji="0" lang="zh-CN" sz="2700" b="1" i="0" u="none" strike="noStrike" kern="0" cap="none" spc="70" normalizeH="0" baseline="0" dirty="0">
                <a:solidFill>
                  <a:srgbClr val="006666">
                    <a:alpha val="100000"/>
                  </a:srgbClr>
                </a:solidFill>
                <a:latin typeface="微软雅黑" panose="020B0503020204020204" charset="-122"/>
                <a:ea typeface="微软雅黑" panose="020B0503020204020204" charset="-122"/>
                <a:cs typeface="微软雅黑" panose="020B0503020204020204" charset="-122"/>
                <a:sym typeface="+mn-lt"/>
              </a:rPr>
              <a:t>问效示例</a:t>
            </a:r>
          </a:p>
          <a:p>
            <a:pPr algn="r" rtl="0" eaLnBrk="0">
              <a:lnSpc>
                <a:spcPct val="90000"/>
              </a:lnSpc>
            </a:pPr>
            <a:endParaRPr lang="zh-CN" sz="2700" b="1" kern="0" spc="70" dirty="0">
              <a:solidFill>
                <a:srgbClr val="006666">
                  <a:alpha val="100000"/>
                </a:srgbClr>
              </a:solidFill>
              <a:latin typeface="微软雅黑" panose="020B0503020204020204" charset="-122"/>
              <a:ea typeface="微软雅黑" panose="020B0503020204020204" charset="-122"/>
              <a:cs typeface="微软雅黑" panose="020B0503020204020204" charset="-122"/>
            </a:endParaRPr>
          </a:p>
          <a:p>
            <a:pPr algn="r" rtl="0" eaLnBrk="0">
              <a:lnSpc>
                <a:spcPts val="3685"/>
              </a:lnSpc>
            </a:pPr>
            <a:endParaRPr lang="zh-CN" sz="2700" b="1" kern="0" spc="10" dirty="0">
              <a:solidFill>
                <a:srgbClr val="00666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215900" y="1159510"/>
            <a:ext cx="11635105" cy="995680"/>
          </a:xfrm>
          <a:prstGeom prst="rect">
            <a:avLst/>
          </a:prstGeom>
          <a:noFill/>
          <a:ln>
            <a:solidFill>
              <a:srgbClr val="6DAEAB"/>
            </a:solidFill>
          </a:ln>
        </p:spPr>
        <p:txBody>
          <a:bodyPr wrap="square" rtlCol="0">
            <a:noAutofit/>
          </a:bodyPr>
          <a:lstStyle/>
          <a:p>
            <a:pPr lvl="0" indent="457200" algn="just">
              <a:lnSpc>
                <a:spcPct val="150000"/>
              </a:lnSpc>
              <a:defRPr/>
            </a:pPr>
            <a:r>
              <a:rPr lang="zh-CN" altLang="en-US" kern="0" dirty="0">
                <a:latin typeface="+mn-ea"/>
                <a:ea typeface="微软雅黑" panose="020B0503020204020204" charset="-122"/>
                <a:cs typeface="+mn-ea"/>
                <a:sym typeface="+mn-ea"/>
              </a:rPr>
              <a:t>以查询</a:t>
            </a:r>
            <a:r>
              <a:rPr lang="en-US" altLang="zh-CN" kern="0" dirty="0">
                <a:latin typeface="+mn-ea"/>
                <a:ea typeface="微软雅黑" panose="020B0503020204020204" charset="-122"/>
                <a:cs typeface="+mn-ea"/>
                <a:sym typeface="+mn-ea"/>
              </a:rPr>
              <a:t>“</a:t>
            </a:r>
            <a:r>
              <a:rPr lang="zh-CN" altLang="en-US" kern="0" dirty="0">
                <a:latin typeface="+mn-ea"/>
                <a:ea typeface="微软雅黑" panose="020B0503020204020204" charset="-122"/>
                <a:cs typeface="+mn-ea"/>
                <a:sym typeface="+mn-ea"/>
              </a:rPr>
              <a:t>成都南北大道</a:t>
            </a:r>
            <a:r>
              <a:rPr lang="en-US" altLang="zh-CN" kern="0" dirty="0">
                <a:latin typeface="+mn-ea"/>
                <a:ea typeface="微软雅黑" panose="020B0503020204020204" charset="-122"/>
                <a:cs typeface="+mn-ea"/>
                <a:sym typeface="+mn-ea"/>
              </a:rPr>
              <a:t>110</a:t>
            </a:r>
            <a:r>
              <a:rPr lang="zh-CN" altLang="en-US" kern="0" dirty="0">
                <a:latin typeface="+mn-ea"/>
                <a:ea typeface="微软雅黑" panose="020B0503020204020204" charset="-122"/>
                <a:cs typeface="+mn-ea"/>
                <a:sym typeface="+mn-ea"/>
              </a:rPr>
              <a:t>千伏输变电工程</a:t>
            </a:r>
            <a:r>
              <a:rPr lang="en-US" altLang="zh-CN" kern="0" dirty="0">
                <a:latin typeface="+mn-ea"/>
                <a:ea typeface="微软雅黑" panose="020B0503020204020204" charset="-122"/>
                <a:cs typeface="+mn-ea"/>
                <a:sym typeface="+mn-ea"/>
              </a:rPr>
              <a:t>”</a:t>
            </a:r>
            <a:r>
              <a:rPr lang="zh-CN" altLang="en-US" kern="0" dirty="0">
                <a:latin typeface="+mn-ea"/>
                <a:ea typeface="微软雅黑" panose="020B0503020204020204" charset="-122"/>
                <a:cs typeface="+mn-ea"/>
                <a:sym typeface="+mn-ea"/>
              </a:rPr>
              <a:t>为例，分析项目投资效果，生成问效评价结论和工作建议，输出问效评价报告，前面三步属于准备工作，从第</a:t>
            </a:r>
            <a:r>
              <a:rPr lang="en-US" altLang="zh-CN" kern="0" dirty="0">
                <a:latin typeface="+mn-ea"/>
                <a:ea typeface="微软雅黑" panose="020B0503020204020204" charset="-122"/>
                <a:cs typeface="+mn-ea"/>
                <a:sym typeface="+mn-ea"/>
              </a:rPr>
              <a:t>4</a:t>
            </a:r>
            <a:r>
              <a:rPr lang="zh-CN" altLang="en-US" kern="0" dirty="0">
                <a:latin typeface="+mn-ea"/>
                <a:ea typeface="微软雅黑" panose="020B0503020204020204" charset="-122"/>
                <a:cs typeface="+mn-ea"/>
                <a:sym typeface="+mn-ea"/>
              </a:rPr>
              <a:t>步开始，投资问效评价分析。</a:t>
            </a:r>
          </a:p>
        </p:txBody>
      </p:sp>
      <p:sp>
        <p:nvSpPr>
          <p:cNvPr id="36" name="圆角矩形 35"/>
          <p:cNvSpPr/>
          <p:nvPr>
            <p:custDataLst>
              <p:tags r:id="rId1"/>
            </p:custDataLst>
          </p:nvPr>
        </p:nvSpPr>
        <p:spPr>
          <a:xfrm>
            <a:off x="538480" y="2272665"/>
            <a:ext cx="2435225" cy="4318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1.</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可研关键信息提取</a:t>
            </a:r>
          </a:p>
        </p:txBody>
      </p:sp>
      <p:sp>
        <p:nvSpPr>
          <p:cNvPr id="7" name="圆角矩形 6"/>
          <p:cNvSpPr>
            <a:spLocks noChangeAspect="1"/>
          </p:cNvSpPr>
          <p:nvPr>
            <p:custDataLst>
              <p:tags r:id="rId2"/>
            </p:custDataLst>
          </p:nvPr>
        </p:nvSpPr>
        <p:spPr>
          <a:xfrm>
            <a:off x="318770" y="2713355"/>
            <a:ext cx="2874010" cy="1746885"/>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 name="圆角矩形 7"/>
          <p:cNvSpPr/>
          <p:nvPr>
            <p:custDataLst>
              <p:tags r:id="rId3"/>
            </p:custDataLst>
          </p:nvPr>
        </p:nvSpPr>
        <p:spPr>
          <a:xfrm>
            <a:off x="3536950" y="2252345"/>
            <a:ext cx="2374265" cy="4320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2.</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生产数据处理</a:t>
            </a:r>
          </a:p>
        </p:txBody>
      </p:sp>
      <p:sp>
        <p:nvSpPr>
          <p:cNvPr id="9" name="圆角矩形 8"/>
          <p:cNvSpPr>
            <a:spLocks noChangeAspect="1"/>
          </p:cNvSpPr>
          <p:nvPr>
            <p:custDataLst>
              <p:tags r:id="rId4"/>
            </p:custDataLst>
          </p:nvPr>
        </p:nvSpPr>
        <p:spPr>
          <a:xfrm>
            <a:off x="3310890" y="2712085"/>
            <a:ext cx="2827020" cy="1734185"/>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 name="圆角矩形 10"/>
          <p:cNvSpPr/>
          <p:nvPr>
            <p:custDataLst>
              <p:tags r:id="rId5"/>
            </p:custDataLst>
          </p:nvPr>
        </p:nvSpPr>
        <p:spPr>
          <a:xfrm>
            <a:off x="6395720" y="2286635"/>
            <a:ext cx="2374265" cy="4320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3.</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生产数据查询</a:t>
            </a:r>
          </a:p>
        </p:txBody>
      </p:sp>
      <p:sp>
        <p:nvSpPr>
          <p:cNvPr id="12" name="圆角矩形 11"/>
          <p:cNvSpPr>
            <a:spLocks noChangeAspect="1"/>
          </p:cNvSpPr>
          <p:nvPr>
            <p:custDataLst>
              <p:tags r:id="rId6"/>
            </p:custDataLst>
          </p:nvPr>
        </p:nvSpPr>
        <p:spPr>
          <a:xfrm>
            <a:off x="6256020" y="2771140"/>
            <a:ext cx="2644775" cy="1711960"/>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3" name="圆角矩形 12"/>
          <p:cNvSpPr/>
          <p:nvPr>
            <p:custDataLst>
              <p:tags r:id="rId7"/>
            </p:custDataLst>
          </p:nvPr>
        </p:nvSpPr>
        <p:spPr>
          <a:xfrm>
            <a:off x="9253855" y="2294255"/>
            <a:ext cx="2426335" cy="4318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4.</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负载率评价分析</a:t>
            </a:r>
          </a:p>
        </p:txBody>
      </p:sp>
      <p:sp>
        <p:nvSpPr>
          <p:cNvPr id="14" name="圆角矩形 13"/>
          <p:cNvSpPr>
            <a:spLocks noChangeAspect="1"/>
          </p:cNvSpPr>
          <p:nvPr>
            <p:custDataLst>
              <p:tags r:id="rId8"/>
            </p:custDataLst>
          </p:nvPr>
        </p:nvSpPr>
        <p:spPr>
          <a:xfrm>
            <a:off x="9018905" y="2726055"/>
            <a:ext cx="2886710" cy="1734185"/>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 name="圆角矩形 14"/>
          <p:cNvSpPr/>
          <p:nvPr>
            <p:custDataLst>
              <p:tags r:id="rId9"/>
            </p:custDataLst>
          </p:nvPr>
        </p:nvSpPr>
        <p:spPr>
          <a:xfrm>
            <a:off x="471805" y="4591685"/>
            <a:ext cx="2426335" cy="4318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5.</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容载比评价分析</a:t>
            </a:r>
          </a:p>
        </p:txBody>
      </p:sp>
      <p:sp>
        <p:nvSpPr>
          <p:cNvPr id="16" name="圆角矩形 15"/>
          <p:cNvSpPr>
            <a:spLocks noChangeAspect="1"/>
          </p:cNvSpPr>
          <p:nvPr>
            <p:custDataLst>
              <p:tags r:id="rId10"/>
            </p:custDataLst>
          </p:nvPr>
        </p:nvSpPr>
        <p:spPr>
          <a:xfrm>
            <a:off x="318770" y="5023485"/>
            <a:ext cx="2874010" cy="1595120"/>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 name="文本框 16"/>
          <p:cNvSpPr txBox="1"/>
          <p:nvPr>
            <p:custDataLst>
              <p:tags r:id="rId11"/>
            </p:custDataLst>
          </p:nvPr>
        </p:nvSpPr>
        <p:spPr>
          <a:xfrm>
            <a:off x="360680" y="2771140"/>
            <a:ext cx="2776220" cy="1568450"/>
          </a:xfrm>
          <a:prstGeom prst="rect">
            <a:avLst/>
          </a:prstGeom>
          <a:noFill/>
        </p:spPr>
        <p:txBody>
          <a:bodyPr wrap="square" rtlCol="0">
            <a:spAutoFit/>
          </a:bodyPr>
          <a:lstStyle/>
          <a:p>
            <a:r>
              <a:rPr kumimoji="1" lang="zh-CN" altLang="en-US" sz="1200" noProof="0" dirty="0">
                <a:ln>
                  <a:noFill/>
                </a:ln>
                <a:effectLst/>
                <a:uLnTx/>
                <a:uFillTx/>
                <a:latin typeface="微软雅黑" panose="020B0503020204020204" charset="-122"/>
                <a:ea typeface="微软雅黑" panose="020B0503020204020204" charset="-122"/>
                <a:cs typeface="微软雅黑" panose="020B0503020204020204" charset="-122"/>
                <a:sym typeface="+mn-ea"/>
              </a:rPr>
              <a:t>首先，智能体进行的是可研关键信息提取，在这一步骤智能体，提取到可研对象为：成都高新南北大道</a:t>
            </a:r>
            <a:r>
              <a:rPr kumimoji="1" lang="en-US" altLang="zh-CN" sz="1200" noProof="0" dirty="0">
                <a:ln>
                  <a:noFill/>
                </a:ln>
                <a:effectLst/>
                <a:uLnTx/>
                <a:uFillTx/>
                <a:latin typeface="微软雅黑" panose="020B0503020204020204" charset="-122"/>
                <a:ea typeface="微软雅黑" panose="020B0503020204020204" charset="-122"/>
                <a:cs typeface="微软雅黑" panose="020B0503020204020204" charset="-122"/>
                <a:sym typeface="+mn-ea"/>
              </a:rPr>
              <a:t>110</a:t>
            </a:r>
            <a:r>
              <a:rPr kumimoji="1" lang="zh-CN" altLang="en-US" sz="1200" noProof="0" dirty="0">
                <a:ln>
                  <a:noFill/>
                </a:ln>
                <a:effectLst/>
                <a:uLnTx/>
                <a:uFillTx/>
                <a:latin typeface="微软雅黑" panose="020B0503020204020204" charset="-122"/>
                <a:ea typeface="微软雅黑" panose="020B0503020204020204" charset="-122"/>
                <a:cs typeface="微软雅黑" panose="020B0503020204020204" charset="-122"/>
                <a:sym typeface="+mn-ea"/>
              </a:rPr>
              <a:t>千伏输变电工程，同时还提取到本次项目的相应现状和建设指标。其中提到了需要解决供电负荷增长迅速和供电可靠性不足等问题。</a:t>
            </a:r>
            <a:endParaRPr kumimoji="1"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a:p>
            <a:endParaRPr lang="zh-CN" altLang="en-US" sz="1200"/>
          </a:p>
        </p:txBody>
      </p:sp>
      <p:sp>
        <p:nvSpPr>
          <p:cNvPr id="18" name="文本框 17"/>
          <p:cNvSpPr txBox="1"/>
          <p:nvPr>
            <p:custDataLst>
              <p:tags r:id="rId12"/>
            </p:custDataLst>
          </p:nvPr>
        </p:nvSpPr>
        <p:spPr>
          <a:xfrm>
            <a:off x="3368040" y="2725420"/>
            <a:ext cx="2700655" cy="1424940"/>
          </a:xfrm>
          <a:prstGeom prst="rect">
            <a:avLst/>
          </a:prstGeom>
          <a:noFill/>
        </p:spPr>
        <p:txBody>
          <a:bodyPr wrap="square" rtlCol="0">
            <a:spAutoFit/>
          </a:bodyPr>
          <a:lstStyle/>
          <a:p>
            <a:pPr indent="0" fontAlgn="auto">
              <a:lnSpc>
                <a:spcPct val="130000"/>
              </a:lnSpc>
            </a:pPr>
            <a:r>
              <a:rPr kumimoji="1" lang="zh-CN" altLang="en-US"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智能体对变电站及其建设指标目标进行整理，然后进行分析任务拆解，确认数据获取清单准备，并确认后续数据分析步骤。</a:t>
            </a: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a:p>
            <a:endParaRPr lang="zh-CN" altLang="en-US" sz="1400"/>
          </a:p>
        </p:txBody>
      </p:sp>
      <p:sp>
        <p:nvSpPr>
          <p:cNvPr id="19" name="文本框 18"/>
          <p:cNvSpPr txBox="1"/>
          <p:nvPr>
            <p:custDataLst>
              <p:tags r:id="rId13"/>
            </p:custDataLst>
          </p:nvPr>
        </p:nvSpPr>
        <p:spPr>
          <a:xfrm>
            <a:off x="6306820" y="2771140"/>
            <a:ext cx="2524125" cy="1253490"/>
          </a:xfrm>
          <a:prstGeom prst="rect">
            <a:avLst/>
          </a:prstGeom>
          <a:noFill/>
        </p:spPr>
        <p:txBody>
          <a:bodyPr wrap="square" rtlCol="0">
            <a:noAutofit/>
          </a:bodyPr>
          <a:lstStyle/>
          <a:p>
            <a:pPr indent="0" algn="just" fontAlgn="auto">
              <a:lnSpc>
                <a:spcPct val="130000"/>
              </a:lnSpc>
            </a:pPr>
            <a:r>
              <a:rPr kumimoji="1" lang="zh-CN" altLang="en-US"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智能体使用提取的变电站信息从预先导入系统的生产数据查询所需生产负荷数据，并将查询结果存储，供后续分析使用。</a:t>
            </a:r>
            <a:endParaRPr lang="zh-CN" altLang="en-US" sz="1400"/>
          </a:p>
        </p:txBody>
      </p:sp>
      <p:sp>
        <p:nvSpPr>
          <p:cNvPr id="20" name="文本框 19"/>
          <p:cNvSpPr txBox="1"/>
          <p:nvPr>
            <p:custDataLst>
              <p:tags r:id="rId14"/>
            </p:custDataLst>
          </p:nvPr>
        </p:nvSpPr>
        <p:spPr>
          <a:xfrm>
            <a:off x="9098280" y="2788285"/>
            <a:ext cx="2736215" cy="1704340"/>
          </a:xfrm>
          <a:prstGeom prst="rect">
            <a:avLst/>
          </a:prstGeom>
          <a:noFill/>
        </p:spPr>
        <p:txBody>
          <a:bodyPr wrap="square" rtlCol="0">
            <a:spAutoFit/>
          </a:bodyPr>
          <a:lstStyle/>
          <a:p>
            <a:pPr indent="0" fontAlgn="auto">
              <a:lnSpc>
                <a:spcPct val="130000"/>
              </a:lnSpc>
            </a:pPr>
            <a:r>
              <a:rPr kumimoji="1" lang="zh-CN" altLang="en-US"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智能体使用可研信息、生产数据基于负载率规则对负载率进行分析，此处得出的结论为：南北大道变电站的</a:t>
            </a:r>
            <a:r>
              <a:rPr kumimoji="1" lang="en-US" altLang="zh-CN"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负载率</a:t>
            </a:r>
            <a:r>
              <a:rPr kumimoji="1" lang="en-US" altLang="zh-CN"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指标满足要求。</a:t>
            </a: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a:p>
            <a:endParaRPr lang="zh-CN" altLang="en-US" sz="1400"/>
          </a:p>
        </p:txBody>
      </p:sp>
      <p:sp>
        <p:nvSpPr>
          <p:cNvPr id="23" name="文本框 22"/>
          <p:cNvSpPr txBox="1"/>
          <p:nvPr>
            <p:custDataLst>
              <p:tags r:id="rId15"/>
            </p:custDataLst>
          </p:nvPr>
        </p:nvSpPr>
        <p:spPr>
          <a:xfrm>
            <a:off x="360680" y="5127625"/>
            <a:ext cx="2709545" cy="1424940"/>
          </a:xfrm>
          <a:prstGeom prst="rect">
            <a:avLst/>
          </a:prstGeom>
          <a:noFill/>
        </p:spPr>
        <p:txBody>
          <a:bodyPr wrap="square" rtlCol="0">
            <a:spAutoFit/>
          </a:bodyPr>
          <a:lstStyle/>
          <a:p>
            <a:pPr indent="0" fontAlgn="auto">
              <a:lnSpc>
                <a:spcPct val="130000"/>
              </a:lnSpc>
            </a:pPr>
            <a:r>
              <a:rPr kumimoji="1" lang="zh-CN" altLang="en-US" sz="1400" noProof="0" dirty="0">
                <a:ln>
                  <a:noFill/>
                </a:ln>
                <a:effectLst/>
                <a:uLnTx/>
                <a:uFillTx/>
                <a:latin typeface="微软雅黑" panose="020B0503020204020204" charset="-122"/>
                <a:ea typeface="微软雅黑" panose="020B0503020204020204" charset="-122"/>
                <a:cs typeface="微软雅黑" panose="020B0503020204020204" charset="-122"/>
                <a:sym typeface="+mn-ea"/>
              </a:rPr>
              <a:t>智能体使用可研信息、生产数据基于容载比规则对容载比进行分析，此处得出的结论为：容载比不满足达标要求。</a:t>
            </a: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a:p>
            <a:endParaRPr lang="zh-CN" altLang="en-US" sz="1400"/>
          </a:p>
        </p:txBody>
      </p:sp>
      <p:sp>
        <p:nvSpPr>
          <p:cNvPr id="24" name="圆角矩形 23"/>
          <p:cNvSpPr/>
          <p:nvPr>
            <p:custDataLst>
              <p:tags r:id="rId16"/>
            </p:custDataLst>
          </p:nvPr>
        </p:nvSpPr>
        <p:spPr>
          <a:xfrm>
            <a:off x="3452495" y="4591685"/>
            <a:ext cx="2426335" cy="4318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6.</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相关变电站分析</a:t>
            </a:r>
          </a:p>
        </p:txBody>
      </p:sp>
      <p:sp>
        <p:nvSpPr>
          <p:cNvPr id="25" name="圆角矩形 24"/>
          <p:cNvSpPr>
            <a:spLocks noChangeAspect="1"/>
          </p:cNvSpPr>
          <p:nvPr>
            <p:custDataLst>
              <p:tags r:id="rId17"/>
            </p:custDataLst>
          </p:nvPr>
        </p:nvSpPr>
        <p:spPr>
          <a:xfrm>
            <a:off x="3299460" y="5023485"/>
            <a:ext cx="2838450" cy="1595120"/>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custDataLst>
              <p:tags r:id="rId18"/>
            </p:custDataLst>
          </p:nvPr>
        </p:nvSpPr>
        <p:spPr>
          <a:xfrm>
            <a:off x="3341370" y="5127625"/>
            <a:ext cx="2709545" cy="1290320"/>
          </a:xfrm>
          <a:prstGeom prst="rect">
            <a:avLst/>
          </a:prstGeom>
          <a:noFill/>
        </p:spPr>
        <p:txBody>
          <a:bodyPr wrap="square" rtlCol="0">
            <a:spAutoFit/>
          </a:bodyPr>
          <a:lstStyle/>
          <a:p>
            <a:pPr indent="0" fontAlgn="auto">
              <a:lnSpc>
                <a:spcPct val="130000"/>
              </a:lnSpc>
            </a:pPr>
            <a:r>
              <a:rPr lang="zh-CN" altLang="en-US" sz="1200"/>
              <a:t>智能体使用可研信息、生产数据基于负载率下降目标对相关变电站负载率下降趋势进行分析，此处得出的结论为：德源变电站的负载率下降幅度为</a:t>
            </a:r>
            <a:r>
              <a:rPr lang="en-US" altLang="zh-CN" sz="1200"/>
              <a:t>8.5%</a:t>
            </a:r>
            <a:r>
              <a:rPr lang="zh-CN" altLang="en-US" sz="1200"/>
              <a:t>，属于</a:t>
            </a:r>
            <a:r>
              <a:rPr lang="en-US" altLang="zh-CN" sz="1200"/>
              <a:t>“</a:t>
            </a:r>
            <a:r>
              <a:rPr lang="zh-CN" altLang="en-US" sz="1200"/>
              <a:t>稍微缓解压力</a:t>
            </a:r>
            <a:r>
              <a:rPr lang="en-US" altLang="zh-CN" sz="1200"/>
              <a:t>”</a:t>
            </a:r>
            <a:r>
              <a:rPr lang="zh-CN" altLang="en-US" sz="1200"/>
              <a:t>等级。</a:t>
            </a:r>
          </a:p>
        </p:txBody>
      </p:sp>
      <p:sp>
        <p:nvSpPr>
          <p:cNvPr id="27" name="圆角矩形 26"/>
          <p:cNvSpPr/>
          <p:nvPr>
            <p:custDataLst>
              <p:tags r:id="rId19"/>
            </p:custDataLst>
          </p:nvPr>
        </p:nvSpPr>
        <p:spPr>
          <a:xfrm>
            <a:off x="6432550" y="4603750"/>
            <a:ext cx="2426335" cy="4318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7.</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分析总结</a:t>
            </a:r>
          </a:p>
        </p:txBody>
      </p:sp>
      <p:sp>
        <p:nvSpPr>
          <p:cNvPr id="28" name="圆角矩形 27"/>
          <p:cNvSpPr>
            <a:spLocks noChangeAspect="1"/>
          </p:cNvSpPr>
          <p:nvPr>
            <p:custDataLst>
              <p:tags r:id="rId20"/>
            </p:custDataLst>
          </p:nvPr>
        </p:nvSpPr>
        <p:spPr>
          <a:xfrm>
            <a:off x="6243955" y="5035550"/>
            <a:ext cx="2715895" cy="1595120"/>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custDataLst>
              <p:tags r:id="rId21"/>
            </p:custDataLst>
          </p:nvPr>
        </p:nvSpPr>
        <p:spPr>
          <a:xfrm>
            <a:off x="6271260" y="5139690"/>
            <a:ext cx="2759710" cy="929640"/>
          </a:xfrm>
          <a:prstGeom prst="rect">
            <a:avLst/>
          </a:prstGeom>
          <a:noFill/>
        </p:spPr>
        <p:txBody>
          <a:bodyPr wrap="square" rtlCol="0">
            <a:spAutoFit/>
          </a:bodyPr>
          <a:lstStyle/>
          <a:p>
            <a:pPr indent="0" fontAlgn="auto">
              <a:lnSpc>
                <a:spcPct val="130000"/>
              </a:lnSpc>
            </a:pPr>
            <a:r>
              <a:rPr lang="zh-CN" altLang="en-US" sz="1400"/>
              <a:t>智能体对上述分析进行总结，得出最后结论。并给出原因和简要建议。</a:t>
            </a:r>
          </a:p>
        </p:txBody>
      </p:sp>
      <p:sp>
        <p:nvSpPr>
          <p:cNvPr id="30" name="圆角矩形 29"/>
          <p:cNvSpPr/>
          <p:nvPr>
            <p:custDataLst>
              <p:tags r:id="rId22"/>
            </p:custDataLst>
          </p:nvPr>
        </p:nvSpPr>
        <p:spPr>
          <a:xfrm>
            <a:off x="9269730" y="4589780"/>
            <a:ext cx="2426335" cy="431800"/>
          </a:xfrm>
          <a:prstGeom prst="roundRect">
            <a:avLst/>
          </a:prstGeom>
          <a:gradFill>
            <a:gsLst>
              <a:gs pos="100000">
                <a:srgbClr val="1DBFAE"/>
              </a:gs>
              <a:gs pos="0">
                <a:srgbClr val="00837F"/>
              </a:gs>
            </a:gsLst>
            <a:lin ang="10800000" scaled="0"/>
          </a:gradFill>
          <a:ln>
            <a:noFill/>
          </a:ln>
          <a:effectLst>
            <a:outerShdw blurRad="254000" dist="635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8.</a:t>
            </a:r>
            <a:r>
              <a:rPr lang="zh-CN" altLang="en-US" sz="1600" b="1" spc="300">
                <a:solidFill>
                  <a:schemeClr val="bg1"/>
                </a:solidFill>
                <a:effectLst>
                  <a:outerShdw blurRad="50800" dist="38100" dir="5400000" algn="t" rotWithShape="0">
                    <a:prstClr val="black">
                      <a:alpha val="40000"/>
                    </a:prstClr>
                  </a:outerShdw>
                </a:effectLst>
                <a:uFillTx/>
                <a:latin typeface="微软雅黑" panose="020B0503020204020204" charset="-122"/>
                <a:ea typeface="微软雅黑" panose="020B0503020204020204" charset="-122"/>
                <a:sym typeface="+mn-ea"/>
              </a:rPr>
              <a:t>报告输出</a:t>
            </a:r>
          </a:p>
        </p:txBody>
      </p:sp>
      <p:sp>
        <p:nvSpPr>
          <p:cNvPr id="31" name="圆角矩形 30"/>
          <p:cNvSpPr>
            <a:spLocks noChangeAspect="1"/>
          </p:cNvSpPr>
          <p:nvPr>
            <p:custDataLst>
              <p:tags r:id="rId23"/>
            </p:custDataLst>
          </p:nvPr>
        </p:nvSpPr>
        <p:spPr>
          <a:xfrm>
            <a:off x="9116695" y="5021580"/>
            <a:ext cx="2874010" cy="1595120"/>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2" name="文本框 31"/>
          <p:cNvSpPr txBox="1"/>
          <p:nvPr>
            <p:custDataLst>
              <p:tags r:id="rId24"/>
            </p:custDataLst>
          </p:nvPr>
        </p:nvSpPr>
        <p:spPr>
          <a:xfrm>
            <a:off x="9158605" y="5125720"/>
            <a:ext cx="2709545" cy="1290320"/>
          </a:xfrm>
          <a:prstGeom prst="rect">
            <a:avLst/>
          </a:prstGeom>
          <a:noFill/>
        </p:spPr>
        <p:txBody>
          <a:bodyPr wrap="square" rtlCol="0">
            <a:spAutoFit/>
          </a:bodyPr>
          <a:lstStyle/>
          <a:p>
            <a:pPr indent="0" fontAlgn="auto">
              <a:lnSpc>
                <a:spcPct val="130000"/>
              </a:lnSpc>
            </a:pPr>
            <a:r>
              <a:rPr lang="zh-CN" altLang="en-US" sz="1200"/>
              <a:t>智能体使用预先配置的评价报告模板进行评价报告文件生成，同时对评价结论以及过程数据进行收集，通过调用问效后端服务对该次问效进行结构化存储，并将数据推送到问效看板。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4"/>
          <p:cNvPicPr>
            <a:picLocks noChangeAspect="1"/>
          </p:cNvPicPr>
          <p:nvPr/>
        </p:nvPicPr>
        <p:blipFill>
          <a:blip r:embed="rId7"/>
          <a:stretch>
            <a:fillRect/>
          </a:stretch>
        </p:blipFill>
        <p:spPr>
          <a:xfrm rot="21600000">
            <a:off x="0" y="1007872"/>
            <a:ext cx="12192000" cy="5827775"/>
          </a:xfrm>
          <a:prstGeom prst="rect">
            <a:avLst/>
          </a:prstGeom>
        </p:spPr>
      </p:pic>
      <p:pic>
        <p:nvPicPr>
          <p:cNvPr id="3" name="picture 60"/>
          <p:cNvPicPr>
            <a:picLocks noChangeAspect="1"/>
          </p:cNvPicPr>
          <p:nvPr/>
        </p:nvPicPr>
        <p:blipFill>
          <a:blip r:embed="rId8"/>
          <a:stretch>
            <a:fillRect/>
          </a:stretch>
        </p:blipFill>
        <p:spPr>
          <a:xfrm rot="21600000">
            <a:off x="392715" y="226734"/>
            <a:ext cx="2875692" cy="780972"/>
          </a:xfrm>
          <a:prstGeom prst="rect">
            <a:avLst/>
          </a:prstGeom>
        </p:spPr>
      </p:pic>
      <p:sp>
        <p:nvSpPr>
          <p:cNvPr id="4" name="textbox 76"/>
          <p:cNvSpPr/>
          <p:nvPr/>
        </p:nvSpPr>
        <p:spPr>
          <a:xfrm>
            <a:off x="7522210" y="579755"/>
            <a:ext cx="4417695" cy="409575"/>
          </a:xfrm>
          <a:prstGeom prst="rect">
            <a:avLst/>
          </a:prstGeom>
          <a:noFill/>
          <a:ln w="0" cap="flat">
            <a:noFill/>
            <a:prstDash val="solid"/>
            <a:miter lim="0"/>
          </a:ln>
        </p:spPr>
        <p:txBody>
          <a:bodyPr vert="horz" wrap="square" lIns="0" tIns="0" rIns="0" bIns="0"/>
          <a:lstStyle/>
          <a:p>
            <a:pPr algn="r" rtl="0" eaLnBrk="0">
              <a:lnSpc>
                <a:spcPct val="90000"/>
              </a:lnSpc>
            </a:pPr>
            <a:endParaRPr lang="zh-CN" sz="2700" b="1" kern="0" spc="70" dirty="0">
              <a:solidFill>
                <a:srgbClr val="00666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2" name="textbox 138"/>
          <p:cNvSpPr/>
          <p:nvPr/>
        </p:nvSpPr>
        <p:spPr>
          <a:xfrm>
            <a:off x="3872646" y="557896"/>
            <a:ext cx="7877809" cy="49403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ct val="90000"/>
              </a:lnSpc>
            </a:pPr>
            <a:r>
              <a:rPr lang="zh-CN" sz="2700" b="1" kern="0" spc="70" dirty="0">
                <a:solidFill>
                  <a:srgbClr val="006666">
                    <a:alpha val="100000"/>
                  </a:srgbClr>
                </a:solidFill>
                <a:latin typeface="微软雅黑" panose="020B0503020204020204" charset="-122"/>
                <a:ea typeface="微软雅黑" panose="020B0503020204020204" charset="-122"/>
                <a:cs typeface="微软雅黑" panose="020B0503020204020204" charset="-122"/>
                <a:sym typeface="+mn-lt"/>
              </a:rPr>
              <a:t>存在问题</a:t>
            </a:r>
            <a:endParaRPr kumimoji="0" lang="zh-CN" altLang="en-US" sz="2700" b="1" i="0" u="none" strike="noStrike" kern="0" cap="none" spc="0" normalizeH="0" baseline="0" noProof="0" dirty="0">
              <a:ln>
                <a:noFill/>
              </a:ln>
              <a:solidFill>
                <a:srgbClr val="064E41"/>
              </a:solidFill>
              <a:effectLst/>
              <a:uLnTx/>
              <a:uFillTx/>
              <a:latin typeface="微软雅黑" panose="020B0503020204020204" charset="-122"/>
              <a:ea typeface="微软雅黑" panose="020B0503020204020204" charset="-122"/>
              <a:cs typeface="+mn-ea"/>
              <a:sym typeface="+mn-lt"/>
            </a:endParaRPr>
          </a:p>
          <a:p>
            <a:pPr algn="r" rtl="0" eaLnBrk="0">
              <a:lnSpc>
                <a:spcPct val="90000"/>
              </a:lnSpc>
            </a:pPr>
            <a:endParaRPr lang="zh-CN" sz="2700" b="1" kern="0" spc="70" dirty="0">
              <a:solidFill>
                <a:srgbClr val="006666">
                  <a:alpha val="100000"/>
                </a:srgbClr>
              </a:solidFill>
              <a:latin typeface="微软雅黑" panose="020B0503020204020204" charset="-122"/>
              <a:ea typeface="微软雅黑" panose="020B0503020204020204" charset="-122"/>
              <a:cs typeface="微软雅黑" panose="020B0503020204020204" charset="-122"/>
            </a:endParaRPr>
          </a:p>
          <a:p>
            <a:pPr algn="r" rtl="0" eaLnBrk="0">
              <a:lnSpc>
                <a:spcPts val="3685"/>
              </a:lnSpc>
            </a:pPr>
            <a:endParaRPr lang="zh-CN" sz="2700" b="1" kern="0" spc="10" dirty="0">
              <a:solidFill>
                <a:srgbClr val="00666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215900" y="1159510"/>
            <a:ext cx="11635105" cy="925830"/>
          </a:xfrm>
          <a:prstGeom prst="rect">
            <a:avLst/>
          </a:prstGeom>
          <a:noFill/>
          <a:ln>
            <a:solidFill>
              <a:srgbClr val="6DAEAB"/>
            </a:solidFill>
          </a:ln>
        </p:spPr>
        <p:txBody>
          <a:bodyPr wrap="square" rtlCol="0">
            <a:noAutofit/>
          </a:bodyPr>
          <a:lstStyle/>
          <a:p>
            <a:pPr marR="0" lvl="0" indent="482600" algn="just" defTabSz="914400" rtl="0" fontAlgn="auto">
              <a:lnSpc>
                <a:spcPct val="180000"/>
              </a:lnSpc>
              <a:spcBef>
                <a:spcPts val="0"/>
              </a:spcBef>
              <a:spcAft>
                <a:spcPts val="0"/>
              </a:spcAft>
              <a:buClrTx/>
              <a:buSzTx/>
              <a:buFontTx/>
              <a:buNone/>
              <a:defRPr/>
            </a:pPr>
            <a:r>
              <a:rPr lang="en-US" altLang="zh-CN" sz="1600" kern="0" spc="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项目现阶段主要存在</a:t>
            </a:r>
            <a:r>
              <a:rPr lang="en-US" altLang="zh-CN" sz="1600" b="1" kern="0" spc="10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lt"/>
              </a:rPr>
              <a:t>智能体分析准确性尚未达到预期效果、业务系统数据未贯通、评价报告模版格式有待优化等问题</a:t>
            </a:r>
            <a:r>
              <a:rPr lang="en-US" altLang="zh-CN" sz="1600" kern="0" spc="1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，现已针对问题提出解决办法并开展实施应对措施，具体如下</a:t>
            </a:r>
            <a:r>
              <a:rPr lang="en-US" altLang="zh-CN" sz="1600" kern="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rPr>
              <a:t>。</a:t>
            </a:r>
            <a:endParaRPr lang="zh-CN" altLang="en-US" sz="1600" spc="-7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68" name="圆角矩形 67"/>
          <p:cNvSpPr/>
          <p:nvPr>
            <p:custDataLst>
              <p:tags r:id="rId1"/>
            </p:custDataLst>
          </p:nvPr>
        </p:nvSpPr>
        <p:spPr>
          <a:xfrm>
            <a:off x="335280" y="2658745"/>
            <a:ext cx="11520170" cy="3852000"/>
          </a:xfrm>
          <a:prstGeom prst="roundRect">
            <a:avLst>
              <a:gd name="adj" fmla="val 1669"/>
            </a:avLst>
          </a:prstGeom>
          <a:gradFill>
            <a:gsLst>
              <a:gs pos="0">
                <a:schemeClr val="bg1"/>
              </a:gs>
              <a:gs pos="100000">
                <a:srgbClr val="D3F3EF"/>
              </a:gs>
              <a:gs pos="50000">
                <a:srgbClr val="F0F9F8"/>
              </a:gs>
            </a:gsLst>
            <a:lin ang="5400000" scaled="0"/>
          </a:gradFill>
          <a:ln w="3175" cap="flat" cmpd="sng" algn="ctr">
            <a:gradFill>
              <a:gsLst>
                <a:gs pos="0">
                  <a:srgbClr val="DAF4EF"/>
                </a:gs>
                <a:gs pos="83000">
                  <a:srgbClr val="D0EEE4"/>
                </a:gs>
                <a:gs pos="100000">
                  <a:srgbClr val="C6E8DD"/>
                </a:gs>
              </a:gsLst>
              <a:lin ang="5400000" scaled="1"/>
            </a:gradFill>
            <a:prstDash val="solid"/>
            <a:miter lim="800000"/>
          </a:ln>
          <a:effectLst>
            <a:outerShdw blurRad="101600" dist="25400" dir="2700000" algn="tl" rotWithShape="0">
              <a:srgbClr val="00796A">
                <a:alpha val="25000"/>
              </a:srgbClr>
            </a:outerShdw>
          </a:effectLst>
        </p:spPr>
        <p:txBody>
          <a:bodyPr lIns="144145" tIns="252095" rIns="144145" bIns="46990" rtlCol="0" anchor="t" anchorCtr="0"/>
          <a:lstStyle/>
          <a:p>
            <a:pPr marL="0" marR="0" lvl="0" indent="0" algn="just" defTabSz="914400" rtl="0" eaLnBrk="1" fontAlgn="auto" latinLnBrk="0" hangingPunct="1">
              <a:lnSpc>
                <a:spcPct val="140000"/>
              </a:lnSpc>
              <a:spcBef>
                <a:spcPct val="0"/>
              </a:spcBef>
              <a:spcAft>
                <a:spcPts val="800"/>
              </a:spcAft>
              <a:buClrTx/>
              <a:buSzTx/>
              <a:buFont typeface="Arial" panose="020B0604020202020204" pitchFamily="34" charset="0"/>
              <a:buNone/>
              <a:defRPr/>
            </a:pPr>
            <a:endParaRPr kumimoji="1" lang="en-US" altLang="zh-CN" sz="1600" b="1" i="0" u="none" strike="noStrike" kern="1200" cap="none" spc="0" normalizeH="0" baseline="0" noProof="0" dirty="0">
              <a:ln>
                <a:noFill/>
              </a:ln>
              <a:solidFill>
                <a:srgbClr val="0459A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 name="圆角矩形 22"/>
          <p:cNvSpPr/>
          <p:nvPr>
            <p:custDataLst>
              <p:tags r:id="rId2"/>
            </p:custDataLst>
          </p:nvPr>
        </p:nvSpPr>
        <p:spPr>
          <a:xfrm>
            <a:off x="525780" y="3065145"/>
            <a:ext cx="11160125" cy="3290570"/>
          </a:xfrm>
          <a:prstGeom prst="roundRect">
            <a:avLst>
              <a:gd name="adj" fmla="val 1798"/>
            </a:avLst>
          </a:prstGeom>
          <a:gradFill>
            <a:gsLst>
              <a:gs pos="100000">
                <a:srgbClr val="1DBFAE">
                  <a:alpha val="7000"/>
                </a:srgbClr>
              </a:gs>
              <a:gs pos="0">
                <a:srgbClr val="00ACA1">
                  <a:alpha val="5000"/>
                </a:srgbClr>
              </a:gs>
              <a:gs pos="55000">
                <a:srgbClr val="69E5D9">
                  <a:alpha val="20000"/>
                </a:srgbClr>
              </a:gs>
            </a:gsLst>
            <a:lin ang="2700000" scaled="0"/>
          </a:gradFill>
          <a:ln w="3175" cmpd="sng">
            <a:solidFill>
              <a:srgbClr val="29918D"/>
            </a:solidFill>
            <a:prstDash val="sysDot"/>
          </a:ln>
          <a:effectLst>
            <a:outerShdw blurRad="76200" dist="50800" dir="5400000" algn="t" rotWithShape="0">
              <a:schemeClr val="tx1">
                <a:lumMod val="95000"/>
                <a:lumOff val="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323850" rtlCol="0" anchor="t" anchorCtr="0"/>
          <a:lstStyle/>
          <a:p>
            <a:pPr indent="0" algn="l" fontAlgn="auto">
              <a:lnSpc>
                <a:spcPct val="120000"/>
              </a:lnSpc>
              <a:spcAft>
                <a:spcPts val="1200"/>
              </a:spcAft>
              <a:buFont typeface="Wingdings" panose="05000000000000000000" charset="0"/>
              <a:buNone/>
            </a:pPr>
            <a:endParaRPr lang="zh-CN" altLang="en-US" sz="1400" kern="0" dirty="0">
              <a:ln>
                <a:noFill/>
                <a:prstDash val="sysDot"/>
              </a:ln>
              <a:solidFill>
                <a:srgbClr val="009895"/>
              </a:solidFill>
              <a:latin typeface="+mn-ea"/>
              <a:sym typeface="+mn-ea"/>
            </a:endParaRPr>
          </a:p>
        </p:txBody>
      </p:sp>
      <p:sp>
        <p:nvSpPr>
          <p:cNvPr id="50" name="TextBox 22"/>
          <p:cNvSpPr txBox="1"/>
          <p:nvPr>
            <p:custDataLst>
              <p:tags r:id="rId3"/>
            </p:custDataLst>
          </p:nvPr>
        </p:nvSpPr>
        <p:spPr>
          <a:xfrm>
            <a:off x="767080" y="3669665"/>
            <a:ext cx="10692000" cy="2523490"/>
          </a:xfrm>
          <a:prstGeom prst="rect">
            <a:avLst/>
          </a:prstGeom>
          <a:noFill/>
          <a:ln w="12700">
            <a:noFill/>
          </a:ln>
        </p:spPr>
        <p:txBody>
          <a:bodyPr wrap="square" lIns="0" tIns="0" rIns="0" bIns="0" rtlCol="0" anchor="t" anchorCtr="0">
            <a:spAutoFit/>
          </a:bodyPr>
          <a:lstStyle/>
          <a:p>
            <a:pPr marL="285750" indent="-285750" fontAlgn="auto">
              <a:lnSpc>
                <a:spcPct val="150000"/>
              </a:lnSpc>
              <a:spcAft>
                <a:spcPts val="1200"/>
              </a:spcAft>
              <a:buSzPct val="70000"/>
              <a:buFont typeface="Wingdings" panose="05000000000000000000" charset="0"/>
              <a:buChar char=""/>
            </a:pPr>
            <a:r>
              <a:rPr lang="zh-CN" altLang="en-US" sz="1600" b="1" spc="100" dirty="0">
                <a:solidFill>
                  <a:srgbClr val="C00000"/>
                </a:solidFill>
                <a:uFillTx/>
                <a:latin typeface="微软雅黑" panose="020B0503020204020204" charset="-122"/>
                <a:ea typeface="微软雅黑" panose="020B0503020204020204" charset="-122"/>
                <a:cs typeface="微软雅黑" panose="020B0503020204020204" charset="-122"/>
                <a:sym typeface="+mn-ea"/>
              </a:rPr>
              <a:t>智能体分析准确性尚未达到预期效果</a:t>
            </a:r>
            <a:r>
              <a:rPr lang="zh-CN" altLang="en-US" sz="16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，存在分析结果不准确、评价结论输出不稳定等情况，正在通过提示词工程、结构化数据库搭建等措施进行优化完善</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spcAft>
                <a:spcPts val="1200"/>
              </a:spcAft>
              <a:buSzPct val="70000"/>
              <a:buFont typeface="Wingdings" panose="05000000000000000000" charset="0"/>
              <a:buChar char=""/>
            </a:pPr>
            <a:r>
              <a:rPr lang="zh-CN" altLang="en-US" sz="1600" b="1" spc="100" dirty="0">
                <a:solidFill>
                  <a:srgbClr val="C00000"/>
                </a:solidFill>
                <a:uFillTx/>
                <a:latin typeface="微软雅黑" panose="020B0503020204020204" charset="-122"/>
                <a:ea typeface="微软雅黑" panose="020B0503020204020204" charset="-122"/>
                <a:cs typeface="微软雅黑" panose="020B0503020204020204" charset="-122"/>
                <a:sym typeface="+mn-ea"/>
              </a:rPr>
              <a:t>业务系统数据未贯通</a:t>
            </a:r>
            <a:r>
              <a:rPr lang="zh-CN" altLang="en-US" sz="16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，网上电网和D5000智能调度控制系统数据无法接入智能体，现阶段通过构建数据库，采用人工导入方式输入业务系统数据</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1600" b="1" spc="100" dirty="0">
              <a:solidFill>
                <a:srgbClr val="C00000"/>
              </a:solidFill>
              <a:uFillTx/>
              <a:latin typeface="微软雅黑" panose="020B0503020204020204" charset="-122"/>
              <a:ea typeface="微软雅黑" panose="020B0503020204020204" charset="-122"/>
              <a:cs typeface="微软雅黑" panose="020B0503020204020204" charset="-122"/>
              <a:sym typeface="+mn-lt"/>
            </a:endParaRPr>
          </a:p>
          <a:p>
            <a:pPr marL="285750" indent="-285750" fontAlgn="auto">
              <a:lnSpc>
                <a:spcPct val="150000"/>
              </a:lnSpc>
              <a:spcAft>
                <a:spcPts val="1200"/>
              </a:spcAft>
              <a:buSzPct val="70000"/>
              <a:buFont typeface="Wingdings" panose="05000000000000000000" charset="0"/>
              <a:buChar char=""/>
            </a:pPr>
            <a:r>
              <a:rPr lang="zh-CN" altLang="en-US" sz="1600" b="1" spc="100" dirty="0">
                <a:solidFill>
                  <a:srgbClr val="C00000"/>
                </a:solidFill>
                <a:uFillTx/>
                <a:latin typeface="微软雅黑" panose="020B0503020204020204" charset="-122"/>
                <a:ea typeface="微软雅黑" panose="020B0503020204020204" charset="-122"/>
                <a:cs typeface="微软雅黑" panose="020B0503020204020204" charset="-122"/>
                <a:sym typeface="+mn-lt"/>
              </a:rPr>
              <a:t>评价报告模版格式有待优化</a:t>
            </a:r>
            <a:r>
              <a:rPr lang="zh-CN" altLang="en-US" sz="16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，现阶段输出评价报告文档格式有待美化完善，且评价报告中输出图表通过插入组件的方式优化完善文档格式</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1600" b="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p:nvPr>
            <p:custDataLst>
              <p:tags r:id="rId4"/>
            </p:custDataLst>
          </p:nvPr>
        </p:nvSpPr>
        <p:spPr>
          <a:xfrm>
            <a:off x="4485780" y="2848610"/>
            <a:ext cx="3240000" cy="431800"/>
          </a:xfrm>
          <a:prstGeom prst="roundRect">
            <a:avLst/>
          </a:prstGeom>
          <a:gradFill>
            <a:gsLst>
              <a:gs pos="100000">
                <a:srgbClr val="1DBFAE"/>
              </a:gs>
              <a:gs pos="0">
                <a:srgbClr val="00837F"/>
              </a:gs>
            </a:gsLst>
            <a:lin ang="10800000" scaled="0"/>
          </a:gradFill>
          <a:ln>
            <a:noFill/>
          </a:ln>
          <a:effectLst>
            <a:outerShdw blurRad="304800" dist="101600" dir="5400000" algn="t" rotWithShape="0">
              <a:srgbClr val="006E6E">
                <a:alpha val="2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spc="300">
                <a:effectLst>
                  <a:outerShdw blurRad="50800" dist="38100" dir="5400000" algn="t" rotWithShape="0">
                    <a:prstClr val="black">
                      <a:alpha val="40000"/>
                    </a:prstClr>
                  </a:outerShdw>
                </a:effectLst>
                <a:uFillTx/>
                <a:latin typeface="微软雅黑" panose="020B0503020204020204" charset="-122"/>
                <a:sym typeface="+mn-ea"/>
              </a:rPr>
              <a:t>存在的问题及解决方法</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5.25078740157477,&quot;left&quot;:29.650000000000013,&quot;top&quot;:172.1,&quot;width&quot;:893.0787401574804}"/>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5.25078740157477,&quot;left&quot;:29.650000000000013,&quot;top&quot;:172.1,&quot;width&quot;:893.0787401574804}"/>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95.25078740157477,&quot;left&quot;:29.650000000000013,&quot;top&quot;:172.1,&quot;width&quot;:893.0787401574804}"/>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95.25078740157477,&quot;left&quot;:29.650000000000013,&quot;top&quot;:172.1,&quot;width&quot;:893.078740157480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95.25078740157477,&quot;left&quot;:29.650000000000013,&quot;top&quot;:172.1,&quot;width&quot;:893.0787401574804}"/>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46.15,&quot;left&quot;:25.1,&quot;top&quot;:175.95,&quot;width&quot;:919.0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46.15,&quot;left&quot;:25.1,&quot;top&quot;:175.95,&quot;width&quot;:919.05}"/>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38.8312815937118,&quot;left&quot;:16.05,&quot;top&quot;:90.55,&quot;width&quot;:921.4166666666666}"/>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1301</Words>
  <Application>Microsoft Office PowerPoint</Application>
  <PresentationFormat>宽屏</PresentationFormat>
  <Paragraphs>107</Paragraphs>
  <Slides>5</Slides>
  <Notes>3</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5</vt:i4>
      </vt:variant>
    </vt:vector>
  </HeadingPairs>
  <TitlesOfParts>
    <vt:vector size="11" baseType="lpstr">
      <vt:lpstr>微软雅黑</vt:lpstr>
      <vt:lpstr>Arial</vt:lpstr>
      <vt:lpstr>Calibri</vt:lpstr>
      <vt:lpstr>Wingdings</vt:lpstr>
      <vt:lpstr>Office 主题</vt:lpstr>
      <vt:lpstr>WPS 公式 3.0</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Xxxx Liao</dc:creator>
  <cp:lastModifiedBy>G Sonnet</cp:lastModifiedBy>
  <cp:revision>32</cp:revision>
  <dcterms:created xsi:type="dcterms:W3CDTF">2025-05-25T17:02:00Z</dcterms:created>
  <dcterms:modified xsi:type="dcterms:W3CDTF">2026-03-23T12:38:00Z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52EFFF4CEA924163A16FD77D269CA15D_13</vt:lpwstr>
  </property>
  <property fmtid="{D5CDD505-2E9C-101B-9397-08002B2CF9AE}" pid="3" name="KSOProductBuildVer">
    <vt:lpwstr>2052-12.1.0.21541</vt:lpwstr>
  </property>
</Properties>
</file>